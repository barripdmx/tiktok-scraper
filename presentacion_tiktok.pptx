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72" r:id="rId3"/>
  </p:sldMasterIdLst>
  <p:notesMasterIdLst>
    <p:notesMasterId r:id="rId41"/>
  </p:notesMasterIdLst>
  <p:sldIdLst>
    <p:sldId id="292" r:id="rId4"/>
    <p:sldId id="257" r:id="rId5"/>
    <p:sldId id="258" r:id="rId6"/>
    <p:sldId id="259" r:id="rId7"/>
    <p:sldId id="294" r:id="rId8"/>
    <p:sldId id="260" r:id="rId9"/>
    <p:sldId id="295" r:id="rId46"/>
    <p:sldId id="261" r:id="rId10"/>
    <p:sldId id="296" r:id="rId47"/>
    <p:sldId id="262" r:id="rId11"/>
    <p:sldId id="265" r:id="rId12"/>
    <p:sldId id="266" r:id="rId13"/>
    <p:sldId id="263" r:id="rId14"/>
    <p:sldId id="293" r:id="rId15"/>
    <p:sldId id="264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97" r:id="rId48"/>
    <p:sldId id="279" r:id="rId29"/>
    <p:sldId id="280" r:id="rId30"/>
    <p:sldId id="281" r:id="rId31"/>
    <p:sldId id="298" r:id="rId49"/>
    <p:sldId id="299" r:id="rId50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808"/>
    <a:srgbClr val="00F2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5" autoAdjust="0"/>
    <p:restoredTop sz="94660"/>
  </p:normalViewPr>
  <p:slideViewPr>
    <p:cSldViewPr snapToGrid="0" snapToObjects="1">
      <p:cViewPr>
        <p:scale>
          <a:sx n="100" d="100"/>
          <a:sy n="100" d="100"/>
        </p:scale>
        <p:origin x="276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presProps" Target="pres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viewProps" Target="viewProp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20" Type="http://schemas.openxmlformats.org/officeDocument/2006/relationships/slide" Target="slides/slide17.xml"/><Relationship Id="rId41" Type="http://schemas.openxmlformats.org/officeDocument/2006/relationships/notesMaster" Target="notesMasters/notesMaster1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7102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Bienvenida. Duración: 2 horas. Cubrir web scraping, IA, y análisis de redes sociales.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Presentar la estructura de la sesión. 2 horas = ~120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Explicar qué es y para qué sirve web scraping. Mencionar aspectos legales.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F57B6-FFB9-F695-7C42-647C90B74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ED900-0220-E2B2-A54A-D260A80CD7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D40BF-5D1B-6E91-8436-C071070312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Explicar por qué TikTok es importante y qué datos podemos extraer.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0DD43-8468-2C14-C084-7B6D416F9F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579543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Explicar por qué TikTok es importante y qué datos podemos extraer.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Comparar herramientas disponibles. Explicar por qué elegimos Playwright.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Detallar cada librería y su propósito específico.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Detallar cada componente y su rol en el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2BDBB-3533-D7BA-E027-05D0A5964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0551C8-29AB-7C83-B683-C76936EC57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4F7C21-6C16-0983-ED13-A802846705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Detallar cada componente y su rol en el pipeline.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25A76-A372-F88A-5EA9-49E84C9DB6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996499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Mostrar el flujo completo paso a paso.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Explicar cómo se generan los reportes HTML interactivos.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Analizar cada gráfico: qué muestra, qué insights proporciona, qué acciones podríamos tomar.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Explicar cómo interpretar cada visualización para tomar decisiones.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Mostrar aplicaciones reales del proyecto en diferentes áreas.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Pasar por problemas típicos y sus soluciones.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Presentar caminos futuros para 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Ser honesto sobre limitaciones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Mostrar cómo las capas se conectan entre sí.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Caminar a través de una ejecución completa.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Mostrar el ROI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Definir cómo medimos el éxito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Summarizar puntos principales de la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Proporcionar referencias útiles para aprender más.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Cierre de la presentación. Abrir Q&amp;A. 2 horas completadas.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?>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?>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9.xml"/></Relationships>
</file>

<file path=ppt/slides/_rels/slide2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9.xm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.png"/></Relationships>
</file>

<file path=ppt/slides/_rels/slide6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/Relationships>
</file>

<file path=ppt/slides/_rels/slide7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/Relationships>
</file>

<file path=ppt/slides/_rels/slide9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9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9.xml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3.png"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9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9.xml"/></Relationships>
</file>

<file path=ppt/slides/_rels/slide15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9.xml"/></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9.xml"/></Relationships>
</file>

<file path=ppt/slides/_rels/slide17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9.xml"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9.xml"/></Relationships>
</file>

<file path=ppt/slides/_rels/slide19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9.xml"/></Relationships>
</file>

<file path=ppt/slides/_rels/slide20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9.xml"/></Relationships>
</file>

<file path=ppt/slides/_rels/slide2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9.xml"/></Relationships>
</file>

<file path=ppt/slides/_rels/slide22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9.xml"/></Relationships>
</file>

<file path=ppt/slides/_rels/slide23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9.xml"/></Relationships>
</file>

<file path=ppt/slides/_rels/slide25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9.xml"/></Relationships>
</file>

<file path=ppt/slides/_rels/slide26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9.xml"/></Relationships>
</file>

<file path=ppt/slides/_rels/slide27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9.xml"/></Relationships>
</file>

<file path=ppt/slides/_rels/slide28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9.xml"/></Relationships>
</file>

<file path=ppt/slides/_rels/slide29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9.xml"/></Relationships>
</file>

<file path=ppt/slides/_rels/slide30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9.xml"/></Relationships>
</file>

<file path=ppt/slides/_rels/slide3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9.xml"/></Relationships>
</file>

<file path=ppt/slides/_rels/slide32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9.xml"/></Relationships>
</file>

<file path=ppt/slides/_rels/slide33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9.xml"/></Relationships>
</file>

<file path=ppt/slides/_rels/slide34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9.xml"/></Relationships>
</file>

<file path=ppt/slides/_rels/slide35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9.xml"/></Relationships>
</file>

<file path=ppt/slides/_rels/slide36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9.xml"/></Relationships>
</file>

<file path=ppt/slides/_rels/slide37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9.xml"/></Relationships>
</file>

<file path=ppt/slides/_rels/slide38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29.xml"/></Relationships>
</file>

<file path=ppt/slides/_rels/slide39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29.xml"/></Relationships>
</file>

<file path=ppt/slides/_rels/slide40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29.xml"/></Relationships>
</file>

<file path=ppt/slides/_rels/slide41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29.xml"/></Relationships>
</file>

<file path=ppt/slides/_rels/slide42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877926" y="2459266"/>
            <a:ext cx="100584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200" b="1">
                <a:solidFill>
                  <a:srgbClr val="FF0050"/>
                </a:solidFill>
              </a:defRPr>
            </a:pPr>
            <a:r>
              <a:rPr lang="es-ES_tradnl" sz="6600" noProof="0" dirty="0"/>
              <a:t xml:space="preserve">TikTok </a:t>
            </a:r>
            <a:r>
              <a:rPr lang="es-ES_tradnl" sz="6600" noProof="0" dirty="0" err="1"/>
              <a:t>Scraper</a:t>
            </a:r>
            <a:r>
              <a:rPr lang="es-ES_tradnl" sz="6600" noProof="0" dirty="0"/>
              <a:t xml:space="preserve"> &amp; </a:t>
            </a:r>
            <a:r>
              <a:rPr lang="es-ES_tradnl" sz="6600" noProof="0" dirty="0" err="1"/>
              <a:t>Analytics</a:t>
            </a:r>
            <a:endParaRPr lang="es-ES_tradnl" sz="6600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1097280" y="3416844"/>
            <a:ext cx="6776214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>
                <a:solidFill>
                  <a:srgbClr val="00F2EA"/>
                </a:solidFill>
              </a:defRPr>
            </a:pPr>
            <a:r>
              <a:rPr lang="es-ES_tradnl" noProof="0" dirty="0">
                <a:solidFill>
                  <a:srgbClr val="002060"/>
                </a:solidFill>
              </a:rPr>
              <a:t>Análisis automatizado de redes sociales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01619"/>
            <a:ext cx="7315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C8D2"/>
                </a:solidFill>
              </a:defRPr>
            </a:pPr>
            <a:r>
              <a:rPr lang="es-ES_tradnl" noProof="0" dirty="0">
                <a:solidFill>
                  <a:srgbClr val="002060"/>
                </a:solidFill>
              </a:rPr>
              <a:t xml:space="preserve">Web </a:t>
            </a:r>
            <a:r>
              <a:rPr lang="es-ES_tradnl" noProof="0" dirty="0" err="1">
                <a:solidFill>
                  <a:srgbClr val="002060"/>
                </a:solidFill>
              </a:rPr>
              <a:t>Scraping</a:t>
            </a:r>
            <a:r>
              <a:rPr lang="es-ES_tradnl" noProof="0" dirty="0">
                <a:solidFill>
                  <a:srgbClr val="002060"/>
                </a:solidFill>
              </a:rPr>
              <a:t xml:space="preserve"> + IA + Visualización de datos</a:t>
            </a:r>
          </a:p>
        </p:txBody>
      </p:sp>
      <p:pic>
        <p:nvPicPr>
          <p:cNvPr id="7" name="Imagen 6" descr="Logotipo&#10;&#10;El contenido generado por IA puede ser incorrecto.">
            <a:extLst>
              <a:ext uri="{FF2B5EF4-FFF2-40B4-BE49-F238E27FC236}">
                <a16:creationId xmlns:a16="http://schemas.microsoft.com/office/drawing/2014/main" id="{FA6D6D0D-83C2-CD83-05CA-A491B31273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5231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Agenda de hoy (2 horas)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794256" y="2052320"/>
            <a:ext cx="4301744" cy="33958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BLOQUE 1: Introducción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• ¿Por qué web </a:t>
            </a:r>
            <a:r>
              <a:rPr lang="es-ES_tradnl" noProof="0" dirty="0" err="1"/>
              <a:t>scraping</a:t>
            </a:r>
            <a:r>
              <a:rPr lang="es-ES_tradnl" noProof="0" dirty="0"/>
              <a:t>?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Caso de uso: TikTok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Herramientas disponibles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BLOQUE 2: Arquitectura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Componentes del sistema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Flujo de datos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• </a:t>
            </a:r>
            <a:r>
              <a:rPr lang="es-ES_tradnl" noProof="0" dirty="0" err="1"/>
              <a:t>Stack</a:t>
            </a:r>
            <a:r>
              <a:rPr lang="es-ES_tradnl" noProof="0" dirty="0"/>
              <a:t xml:space="preserve"> tecnológico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63536" y="2052320"/>
            <a:ext cx="4301744" cy="33958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BLOQUE 3: Implementación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Código y ejemplos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Pipeline paso a paso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• </a:t>
            </a:r>
            <a:r>
              <a:rPr lang="es-ES_tradnl" noProof="0" dirty="0" err="1"/>
              <a:t>Troubleshooting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BLOQUE 4: Resultados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Ejemplos reales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Análisis de datos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Conclusiones</a:t>
            </a: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EF2C2A23-5AD7-BBA5-1CA9-81690A3F5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054535" y="0"/>
            <a:ext cx="137160" cy="6858000"/>
          </a:xfrm>
          <a:prstGeom prst="rect">
            <a:avLst/>
          </a:prstGeom>
          <a:solidFill>
            <a:srgbClr val="00F2E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2743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0" b="1">
                <a:solidFill>
                  <a:srgbClr val="FF0050"/>
                </a:solidFill>
              </a:defRPr>
            </a:pPr>
            <a:r>
              <a:rPr lang="es-ES_tradnl" noProof="0" dirty="0"/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286000"/>
            <a:ext cx="73152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rPr lang="es-ES_tradnl" noProof="0" dirty="0">
                <a:solidFill>
                  <a:srgbClr val="080808"/>
                </a:solidFill>
              </a:rPr>
              <a:t>Introducción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4389120"/>
            <a:ext cx="7315200" cy="45720"/>
          </a:xfrm>
          <a:prstGeom prst="rect">
            <a:avLst/>
          </a:prstGeom>
          <a:solidFill>
            <a:srgbClr val="00F2E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pic>
        <p:nvPicPr>
          <p:cNvPr id="6" name="Imagen 5" descr="Logotipo&#10;&#10;El contenido generado por IA puede ser incorrecto.">
            <a:extLst>
              <a:ext uri="{FF2B5EF4-FFF2-40B4-BE49-F238E27FC236}">
                <a16:creationId xmlns:a16="http://schemas.microsoft.com/office/drawing/2014/main" id="{00F443ED-1062-ED29-8C52-2F77366D39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 xml:space="preserve">¿Qué es Web </a:t>
            </a:r>
            <a:r>
              <a:rPr lang="es-ES_tradnl" noProof="0" dirty="0" err="1"/>
              <a:t>Scraping</a:t>
            </a:r>
            <a:r>
              <a:rPr lang="es-ES_tradnl" noProof="0" dirty="0"/>
              <a:t>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863446" y="1846382"/>
            <a:ext cx="3403600" cy="33958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Definición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Extracción automatizada de datos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desde sitios web.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Técnicas: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• </a:t>
            </a:r>
            <a:r>
              <a:rPr lang="es-ES_tradnl" noProof="0" dirty="0" err="1"/>
              <a:t>Parsing</a:t>
            </a:r>
            <a:r>
              <a:rPr lang="es-ES_tradnl" noProof="0" dirty="0"/>
              <a:t xml:space="preserve"> HTML/CSS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• </a:t>
            </a:r>
            <a:r>
              <a:rPr lang="es-ES_tradnl" noProof="0" dirty="0" err="1"/>
              <a:t>APIs</a:t>
            </a:r>
            <a:r>
              <a:rPr lang="es-ES_tradnl" noProof="0" dirty="0"/>
              <a:t xml:space="preserve"> REST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Automatización de navegador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• Interceptación de </a:t>
            </a:r>
            <a:r>
              <a:rPr lang="es-ES_tradnl" noProof="0" dirty="0" err="1"/>
              <a:t>requests</a:t>
            </a:r>
            <a:endParaRPr lang="es-ES_tradn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7532726" y="1846382"/>
            <a:ext cx="3403600" cy="3960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Casos de uso: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Monitoreo de precios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Análisis de sentimientos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Inteligencia competitiva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Investigación de mercado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Trabajos académicos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Consideraciones legales: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⚠️ Respetar robots.txt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⚠️ Cumplir </a:t>
            </a:r>
            <a:r>
              <a:rPr lang="es-ES_tradnl" noProof="0" dirty="0" err="1"/>
              <a:t>ToS</a:t>
            </a:r>
            <a:r>
              <a:rPr lang="es-ES_tradnl" noProof="0" dirty="0"/>
              <a:t xml:space="preserve"> </a:t>
            </a:r>
            <a:r>
              <a:rPr lang="es-ES" sz="1500" b="1" noProof="0" dirty="0"/>
              <a:t xml:space="preserve"> </a:t>
            </a:r>
            <a:r>
              <a:rPr lang="es-ES" sz="1500" dirty="0"/>
              <a:t xml:space="preserve">(Términos de Servicio) 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⚠️ No sobrecargar servidores</a:t>
            </a: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36A0151B-7EE2-EBBF-AD94-A43671D1A7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096C0-0CF7-7DA1-A31D-1E68D13F3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685986-2789-FDFC-B8D7-2102B0AF9DD3}"/>
              </a:ext>
            </a:extLst>
          </p:cNvPr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93DF3D0-93FB-4B50-1B32-EC2B95D483B2}"/>
              </a:ext>
            </a:extLst>
          </p:cNvPr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62DDAC-8846-2380-7C33-5973E8FA2128}"/>
              </a:ext>
            </a:extLst>
          </p:cNvPr>
          <p:cNvSpPr txBox="1"/>
          <p:nvPr/>
        </p:nvSpPr>
        <p:spPr>
          <a:xfrm>
            <a:off x="548640" y="228600"/>
            <a:ext cx="550984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dirty="0"/>
              <a:t>Q</a:t>
            </a:r>
            <a:r>
              <a:rPr lang="es-ES_tradnl" noProof="0" dirty="0" err="1"/>
              <a:t>ué</a:t>
            </a:r>
            <a:r>
              <a:rPr lang="es-ES_tradnl" noProof="0" dirty="0"/>
              <a:t xml:space="preserve"> analizar en TikTok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9024E3-2CB8-D453-43A9-B67949443E1A}"/>
              </a:ext>
            </a:extLst>
          </p:cNvPr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959ECE5E-978C-54FF-5071-C8B713FA9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C5266B79-236B-F352-C200-12D64712CA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8985" y="1188720"/>
            <a:ext cx="5035640" cy="5635577"/>
          </a:xfrm>
          <a:prstGeom prst="rect">
            <a:avLst/>
          </a:prstGeom>
        </p:spPr>
      </p:pic>
      <p:sp>
        <p:nvSpPr>
          <p:cNvPr id="11" name="Flecha: hacia la izquierda 10">
            <a:extLst>
              <a:ext uri="{FF2B5EF4-FFF2-40B4-BE49-F238E27FC236}">
                <a16:creationId xmlns:a16="http://schemas.microsoft.com/office/drawing/2014/main" id="{E6E7503E-8E9F-47F7-B2C9-2C8E7BCE4139}"/>
              </a:ext>
            </a:extLst>
          </p:cNvPr>
          <p:cNvSpPr/>
          <p:nvPr/>
        </p:nvSpPr>
        <p:spPr>
          <a:xfrm>
            <a:off x="6032500" y="3632200"/>
            <a:ext cx="1460500" cy="228600"/>
          </a:xfrm>
          <a:prstGeom prst="leftArrow">
            <a:avLst/>
          </a:prstGeom>
          <a:solidFill>
            <a:srgbClr val="FF2D55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ES_tradnl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E113089-651B-4F30-8472-221C7B75FB0E}"/>
              </a:ext>
            </a:extLst>
          </p:cNvPr>
          <p:cNvSpPr txBox="1"/>
          <p:nvPr/>
        </p:nvSpPr>
        <p:spPr>
          <a:xfrm>
            <a:off x="7620000" y="3592611"/>
            <a:ext cx="1866900" cy="307777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_tradnl" sz="1400" b="1" dirty="0">
                <a:solidFill>
                  <a:srgbClr val="000000"/>
                </a:solidFill>
                <a:latin typeface="Calibri"/>
                <a:cs typeface="Calibri"/>
              </a:rPr>
              <a:t>Perfil del creador</a:t>
            </a:r>
          </a:p>
        </p:txBody>
      </p:sp>
      <p:sp>
        <p:nvSpPr>
          <p:cNvPr id="13" name="Flecha: hacia la izquierda 12">
            <a:extLst>
              <a:ext uri="{FF2B5EF4-FFF2-40B4-BE49-F238E27FC236}">
                <a16:creationId xmlns:a16="http://schemas.microsoft.com/office/drawing/2014/main" id="{FA344ECC-29BE-4E66-A253-08DB3A68E8CF}"/>
              </a:ext>
            </a:extLst>
          </p:cNvPr>
          <p:cNvSpPr/>
          <p:nvPr/>
        </p:nvSpPr>
        <p:spPr>
          <a:xfrm>
            <a:off x="6032500" y="4203700"/>
            <a:ext cx="1460500" cy="228600"/>
          </a:xfrm>
          <a:prstGeom prst="leftArrow">
            <a:avLst/>
          </a:prstGeom>
          <a:solidFill>
            <a:srgbClr val="FF2D55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ES_tradnl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68DE549-5B4E-4C40-A9E4-C9AD336DE8FD}"/>
              </a:ext>
            </a:extLst>
          </p:cNvPr>
          <p:cNvSpPr txBox="1"/>
          <p:nvPr/>
        </p:nvSpPr>
        <p:spPr>
          <a:xfrm>
            <a:off x="7620000" y="4164111"/>
            <a:ext cx="1866900" cy="307777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_tradnl" sz="1400" b="1" dirty="0">
                <a:solidFill>
                  <a:srgbClr val="000000"/>
                </a:solidFill>
                <a:latin typeface="Calibri"/>
                <a:cs typeface="Calibri"/>
              </a:rPr>
              <a:t>Me gusta (21.2K)</a:t>
            </a:r>
          </a:p>
        </p:txBody>
      </p:sp>
      <p:sp>
        <p:nvSpPr>
          <p:cNvPr id="15" name="Flecha: hacia la izquierda 14">
            <a:extLst>
              <a:ext uri="{FF2B5EF4-FFF2-40B4-BE49-F238E27FC236}">
                <a16:creationId xmlns:a16="http://schemas.microsoft.com/office/drawing/2014/main" id="{A6B179AA-3D8B-47FD-8E2E-9F1E69EFF279}"/>
              </a:ext>
            </a:extLst>
          </p:cNvPr>
          <p:cNvSpPr/>
          <p:nvPr/>
        </p:nvSpPr>
        <p:spPr>
          <a:xfrm>
            <a:off x="6032500" y="4775200"/>
            <a:ext cx="1460500" cy="228600"/>
          </a:xfrm>
          <a:prstGeom prst="leftArrow">
            <a:avLst/>
          </a:prstGeom>
          <a:solidFill>
            <a:srgbClr val="FF2D55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ES_tradnl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13FD4E9-1DD2-4656-AD57-EE05CD1FE288}"/>
              </a:ext>
            </a:extLst>
          </p:cNvPr>
          <p:cNvSpPr txBox="1"/>
          <p:nvPr/>
        </p:nvSpPr>
        <p:spPr>
          <a:xfrm>
            <a:off x="7620000" y="4735611"/>
            <a:ext cx="1695450" cy="307777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_tradnl" sz="1400" b="1" dirty="0">
                <a:solidFill>
                  <a:srgbClr val="FF0000"/>
                </a:solidFill>
                <a:latin typeface="Calibri"/>
                <a:cs typeface="Calibri"/>
              </a:rPr>
              <a:t>Comentarios (256)</a:t>
            </a:r>
          </a:p>
        </p:txBody>
      </p:sp>
      <p:sp>
        <p:nvSpPr>
          <p:cNvPr id="17" name="Flecha: hacia la izquierda 16">
            <a:extLst>
              <a:ext uri="{FF2B5EF4-FFF2-40B4-BE49-F238E27FC236}">
                <a16:creationId xmlns:a16="http://schemas.microsoft.com/office/drawing/2014/main" id="{85F7A92E-04E1-453E-8540-34C921D328FB}"/>
              </a:ext>
            </a:extLst>
          </p:cNvPr>
          <p:cNvSpPr/>
          <p:nvPr/>
        </p:nvSpPr>
        <p:spPr>
          <a:xfrm>
            <a:off x="6032500" y="5346700"/>
            <a:ext cx="1460500" cy="228600"/>
          </a:xfrm>
          <a:prstGeom prst="leftArrow">
            <a:avLst/>
          </a:prstGeom>
          <a:solidFill>
            <a:srgbClr val="FF2D55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ES_tradnl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0B76C2B-A072-4070-BDC0-E4C5D2DB081F}"/>
              </a:ext>
            </a:extLst>
          </p:cNvPr>
          <p:cNvSpPr txBox="1"/>
          <p:nvPr/>
        </p:nvSpPr>
        <p:spPr>
          <a:xfrm>
            <a:off x="7620000" y="5307111"/>
            <a:ext cx="1866900" cy="307777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_tradnl" sz="1400" b="1">
                <a:solidFill>
                  <a:srgbClr val="000000"/>
                </a:solidFill>
                <a:latin typeface="Calibri"/>
                <a:cs typeface="Calibri"/>
              </a:rPr>
              <a:t>Guardados (11.4K)</a:t>
            </a:r>
          </a:p>
        </p:txBody>
      </p:sp>
      <p:sp>
        <p:nvSpPr>
          <p:cNvPr id="19" name="Flecha: hacia la izquierda 18">
            <a:extLst>
              <a:ext uri="{FF2B5EF4-FFF2-40B4-BE49-F238E27FC236}">
                <a16:creationId xmlns:a16="http://schemas.microsoft.com/office/drawing/2014/main" id="{3FEC3F96-6843-40AB-84CF-20465A586D86}"/>
              </a:ext>
            </a:extLst>
          </p:cNvPr>
          <p:cNvSpPr/>
          <p:nvPr/>
        </p:nvSpPr>
        <p:spPr>
          <a:xfrm>
            <a:off x="6032500" y="5918200"/>
            <a:ext cx="1460500" cy="228600"/>
          </a:xfrm>
          <a:prstGeom prst="leftArrow">
            <a:avLst/>
          </a:prstGeom>
          <a:solidFill>
            <a:srgbClr val="FF2D55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ES_tradnl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AC53387D-9A57-4576-AB89-3815FC4BBDD9}"/>
              </a:ext>
            </a:extLst>
          </p:cNvPr>
          <p:cNvSpPr txBox="1"/>
          <p:nvPr/>
        </p:nvSpPr>
        <p:spPr>
          <a:xfrm>
            <a:off x="7620000" y="5878611"/>
            <a:ext cx="4248150" cy="307777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_tradnl" sz="1400" b="1" dirty="0">
                <a:solidFill>
                  <a:srgbClr val="000000"/>
                </a:solidFill>
                <a:latin typeface="Calibri"/>
                <a:cs typeface="Calibri"/>
              </a:rPr>
              <a:t>Compartidos (7,031) No es el compartido de Twitter</a:t>
            </a:r>
          </a:p>
        </p:txBody>
      </p:sp>
      <p:sp>
        <p:nvSpPr>
          <p:cNvPr id="21" name="Flecha: hacia la izquierda 20">
            <a:extLst>
              <a:ext uri="{FF2B5EF4-FFF2-40B4-BE49-F238E27FC236}">
                <a16:creationId xmlns:a16="http://schemas.microsoft.com/office/drawing/2014/main" id="{3B0F3659-05C5-4781-B54C-FEF98E3E275C}"/>
              </a:ext>
            </a:extLst>
          </p:cNvPr>
          <p:cNvSpPr/>
          <p:nvPr/>
        </p:nvSpPr>
        <p:spPr>
          <a:xfrm>
            <a:off x="6032500" y="6464300"/>
            <a:ext cx="1460500" cy="228600"/>
          </a:xfrm>
          <a:prstGeom prst="leftArrow">
            <a:avLst/>
          </a:prstGeom>
          <a:solidFill>
            <a:srgbClr val="FF2D55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ES_tradnl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205F2120-8C03-4B25-80DA-883125995BEB}"/>
              </a:ext>
            </a:extLst>
          </p:cNvPr>
          <p:cNvSpPr txBox="1"/>
          <p:nvPr/>
        </p:nvSpPr>
        <p:spPr>
          <a:xfrm>
            <a:off x="7620000" y="6424711"/>
            <a:ext cx="1695450" cy="307777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_tradnl" sz="1400" b="1" dirty="0">
                <a:solidFill>
                  <a:srgbClr val="000000"/>
                </a:solidFill>
                <a:latin typeface="Calibri"/>
                <a:cs typeface="Calibri"/>
              </a:rPr>
              <a:t>Audio original</a:t>
            </a:r>
          </a:p>
        </p:txBody>
      </p:sp>
      <p:sp>
        <p:nvSpPr>
          <p:cNvPr id="23" name="Flecha: hacia la izquierda 22">
            <a:extLst>
              <a:ext uri="{FF2B5EF4-FFF2-40B4-BE49-F238E27FC236}">
                <a16:creationId xmlns:a16="http://schemas.microsoft.com/office/drawing/2014/main" id="{DB96B9F2-5A8C-A1E4-9581-2D911802CB81}"/>
              </a:ext>
            </a:extLst>
          </p:cNvPr>
          <p:cNvSpPr/>
          <p:nvPr/>
        </p:nvSpPr>
        <p:spPr>
          <a:xfrm>
            <a:off x="5458560" y="2243455"/>
            <a:ext cx="2034439" cy="228600"/>
          </a:xfrm>
          <a:prstGeom prst="leftArrow">
            <a:avLst/>
          </a:prstGeom>
          <a:solidFill>
            <a:srgbClr val="FF2D55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s-ES_tradnl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EB60DDA6-FB6C-CE36-11C7-11625A816031}"/>
              </a:ext>
            </a:extLst>
          </p:cNvPr>
          <p:cNvSpPr txBox="1"/>
          <p:nvPr/>
        </p:nvSpPr>
        <p:spPr>
          <a:xfrm>
            <a:off x="7620000" y="2212954"/>
            <a:ext cx="1866900" cy="307777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s-ES_tradnl" sz="1400" b="1" dirty="0">
                <a:solidFill>
                  <a:srgbClr val="FF0000"/>
                </a:solidFill>
                <a:latin typeface="Calibri"/>
                <a:cs typeface="Calibri"/>
              </a:rPr>
              <a:t>Publicación</a:t>
            </a:r>
          </a:p>
        </p:txBody>
      </p:sp>
    </p:spTree>
    <p:extLst>
      <p:ext uri="{BB962C8B-B14F-4D97-AF65-F5344CB8AC3E}">
        <p14:creationId xmlns:p14="http://schemas.microsoft.com/office/powerpoint/2010/main" val="17817637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Por qué analizar TikTok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2232152" y="1874334"/>
            <a:ext cx="3367024" cy="324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Datos en TikTok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🎬 Videos: contenido, alcance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💬 Comentarios: </a:t>
            </a:r>
            <a:r>
              <a:rPr lang="es-ES_tradnl" noProof="0" dirty="0" err="1"/>
              <a:t>feedback</a:t>
            </a:r>
            <a:r>
              <a:rPr lang="es-ES_tradnl" noProof="0" dirty="0"/>
              <a:t xml:space="preserve"> público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📊 Métricas: vistas, </a:t>
            </a:r>
            <a:r>
              <a:rPr lang="es-ES_tradnl" noProof="0" dirty="0" err="1"/>
              <a:t>likes</a:t>
            </a:r>
            <a:r>
              <a:rPr lang="es-ES_tradnl" noProof="0" dirty="0"/>
              <a:t>, shares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👤 Usuarios: comportamiento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Desafíos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❌ API limitada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❌ </a:t>
            </a:r>
            <a:r>
              <a:rPr lang="es-ES_tradnl" noProof="0" dirty="0" err="1"/>
              <a:t>Anti-bot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detection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❌ Datos dinámicos (JavaScript)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1432" y="1865190"/>
            <a:ext cx="3367024" cy="3529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Oportunidades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Entender público objetivo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Análisis de tendencias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Sentimiento del usuario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✅ Identificar </a:t>
            </a:r>
            <a:r>
              <a:rPr lang="es-ES_tradnl" noProof="0" dirty="0" err="1"/>
              <a:t>influencers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Monitoreo de marca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Aplicaciones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📈 Marketing y publicidad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🎯 Investigación social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📊 Análisis político</a:t>
            </a: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48F85E8B-4DDC-7F55-E3E1-45E4146BCA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 xml:space="preserve">Herramientas de Web </a:t>
            </a:r>
            <a:r>
              <a:rPr lang="es-ES_tradnl" noProof="0" dirty="0" err="1"/>
              <a:t>Scraping</a:t>
            </a:r>
            <a:endParaRPr lang="es-ES_tradnl" noProof="0" dirty="0"/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798422" y="1846382"/>
            <a:ext cx="3468624" cy="3703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Librerías Python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🐍 **</a:t>
            </a:r>
            <a:r>
              <a:rPr lang="es-ES_tradnl" noProof="0" dirty="0" err="1"/>
              <a:t>BeautifulSoup</a:t>
            </a:r>
            <a:r>
              <a:rPr lang="es-ES_tradnl" noProof="0" dirty="0"/>
              <a:t>**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   </a:t>
            </a:r>
            <a:r>
              <a:rPr lang="es-ES_tradnl" noProof="0" dirty="0" err="1"/>
              <a:t>Parsing</a:t>
            </a:r>
            <a:r>
              <a:rPr lang="es-ES_tradnl" noProof="0" dirty="0"/>
              <a:t xml:space="preserve"> HTML simple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🐍 **</a:t>
            </a:r>
            <a:r>
              <a:rPr lang="es-ES_tradnl" noProof="0" dirty="0" err="1"/>
              <a:t>Selenium</a:t>
            </a:r>
            <a:r>
              <a:rPr lang="es-ES_tradnl" noProof="0" dirty="0"/>
              <a:t>**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   Navegador automatizado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   Compatible con JavaScript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🐍 **</a:t>
            </a:r>
            <a:r>
              <a:rPr lang="es-ES_tradnl" noProof="0" dirty="0" err="1"/>
              <a:t>Playwright</a:t>
            </a:r>
            <a:r>
              <a:rPr lang="es-ES_tradnl" noProof="0" dirty="0"/>
              <a:t>**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   Más rápido que </a:t>
            </a:r>
            <a:r>
              <a:rPr lang="es-ES_tradnl" noProof="0" dirty="0" err="1"/>
              <a:t>Selenium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   Mejor rendimiento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67702" y="1846382"/>
            <a:ext cx="3468624" cy="3960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Alternativas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📦 </a:t>
            </a:r>
            <a:r>
              <a:rPr lang="es-ES_tradnl" noProof="0" dirty="0" err="1"/>
              <a:t>Requests</a:t>
            </a:r>
            <a:r>
              <a:rPr lang="es-ES_tradnl" noProof="0" dirty="0"/>
              <a:t xml:space="preserve"> + </a:t>
            </a:r>
            <a:r>
              <a:rPr lang="es-ES_tradnl" noProof="0" dirty="0" err="1"/>
              <a:t>RegEx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📦 </a:t>
            </a:r>
            <a:r>
              <a:rPr lang="es-ES_tradnl" noProof="0" dirty="0" err="1"/>
              <a:t>Puppeteer</a:t>
            </a:r>
            <a:r>
              <a:rPr lang="es-ES_tradnl" noProof="0" dirty="0"/>
              <a:t xml:space="preserve"> (Node.js)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📦 </a:t>
            </a:r>
            <a:r>
              <a:rPr lang="es-ES_tradnl" noProof="0" dirty="0" err="1"/>
              <a:t>APIs</a:t>
            </a:r>
            <a:r>
              <a:rPr lang="es-ES_tradnl" noProof="0" dirty="0"/>
              <a:t xml:space="preserve"> oficiales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📦 Servicios de </a:t>
            </a:r>
            <a:r>
              <a:rPr lang="es-ES_tradnl" noProof="0" dirty="0" err="1"/>
              <a:t>scraping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Nuestro caso: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✅ </a:t>
            </a:r>
            <a:r>
              <a:rPr lang="es-ES_tradnl" noProof="0" dirty="0" err="1"/>
              <a:t>Playwright</a:t>
            </a:r>
            <a:r>
              <a:rPr lang="es-ES_tradnl" noProof="0" dirty="0"/>
              <a:t>: velocidad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Pandas: procesamiento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✅ </a:t>
            </a:r>
            <a:r>
              <a:rPr lang="es-ES_tradnl" noProof="0" dirty="0" err="1"/>
              <a:t>Groq</a:t>
            </a:r>
            <a:r>
              <a:rPr lang="es-ES_tradnl" noProof="0" dirty="0"/>
              <a:t xml:space="preserve"> API: IA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✅ </a:t>
            </a:r>
            <a:r>
              <a:rPr lang="es-ES_tradnl" noProof="0" dirty="0" err="1"/>
              <a:t>Matplotlib</a:t>
            </a:r>
            <a:r>
              <a:rPr lang="es-ES_tradnl" noProof="0" dirty="0"/>
              <a:t>: visualización</a:t>
            </a: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07052023-AC74-159C-217E-67DBBD4FE7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054535" y="0"/>
            <a:ext cx="137160" cy="6858000"/>
          </a:xfrm>
          <a:prstGeom prst="rect">
            <a:avLst/>
          </a:prstGeom>
          <a:solidFill>
            <a:srgbClr val="00F2E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2743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0" b="1">
                <a:solidFill>
                  <a:srgbClr val="FF0050"/>
                </a:solidFill>
              </a:defRPr>
            </a:pPr>
            <a:r>
              <a:rPr lang="es-ES_tradnl" noProof="0" dirty="0"/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286000"/>
            <a:ext cx="73152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rPr lang="es-ES_tradnl" noProof="0" dirty="0">
                <a:solidFill>
                  <a:srgbClr val="080808"/>
                </a:solidFill>
              </a:rPr>
              <a:t>Arquitectura</a:t>
            </a:r>
            <a:r>
              <a:rPr lang="es-ES_tradnl" noProof="0" dirty="0"/>
              <a:t xml:space="preserve"> del Sistema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4389120"/>
            <a:ext cx="7315200" cy="45720"/>
          </a:xfrm>
          <a:prstGeom prst="rect">
            <a:avLst/>
          </a:prstGeom>
          <a:solidFill>
            <a:srgbClr val="00F2E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pic>
        <p:nvPicPr>
          <p:cNvPr id="6" name="Imagen 5" descr="Logotipo&#10;&#10;El contenido generado por IA puede ser incorrecto.">
            <a:extLst>
              <a:ext uri="{FF2B5EF4-FFF2-40B4-BE49-F238E27FC236}">
                <a16:creationId xmlns:a16="http://schemas.microsoft.com/office/drawing/2014/main" id="{CB7BF737-7020-7F89-A382-EB7386C309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 err="1"/>
              <a:t>Stack</a:t>
            </a:r>
            <a:r>
              <a:rPr lang="es-ES_tradnl" noProof="0" dirty="0"/>
              <a:t>: Librerías principales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910080" y="1473942"/>
            <a:ext cx="3495040" cy="42267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 err="1"/>
              <a:t>Frontend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Automation</a:t>
            </a:r>
            <a:endParaRPr lang="es-ES_tradnl" noProof="0" dirty="0"/>
          </a:p>
          <a:p>
            <a:pPr>
              <a:spcBef>
                <a:spcPts val="800"/>
              </a:spcBef>
              <a:spcAft>
                <a:spcPts val="400"/>
              </a:spcAft>
              <a:defRPr sz="1700" b="1">
                <a:solidFill>
                  <a:srgbClr val="FF0050"/>
                </a:solidFill>
              </a:defRPr>
            </a:pPr>
            <a:r>
              <a:rPr lang="es-ES_tradnl" noProof="0" dirty="0" err="1"/>
              <a:t>Playwright</a:t>
            </a:r>
            <a:r>
              <a:rPr lang="es-ES_tradnl" noProof="0" dirty="0"/>
              <a:t xml:space="preserve"> 1.57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Automatiza Chrome/Firefox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• </a:t>
            </a:r>
            <a:r>
              <a:rPr lang="es-ES_tradnl" noProof="0" dirty="0" err="1"/>
              <a:t>Gesiona</a:t>
            </a:r>
            <a:r>
              <a:rPr lang="es-ES_tradnl" noProof="0" dirty="0"/>
              <a:t xml:space="preserve"> cookies y sesiones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• Intercepta </a:t>
            </a:r>
            <a:r>
              <a:rPr lang="es-ES_tradnl" noProof="0" dirty="0" err="1"/>
              <a:t>requests</a:t>
            </a:r>
            <a:r>
              <a:rPr lang="es-ES_tradnl" noProof="0" dirty="0"/>
              <a:t xml:space="preserve"> HTTP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Procesamiento de datos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 b="1">
                <a:solidFill>
                  <a:srgbClr val="FF0050"/>
                </a:solidFill>
              </a:defRPr>
            </a:pPr>
            <a:r>
              <a:rPr lang="es-ES_tradnl" noProof="0" dirty="0"/>
              <a:t>Pandas 3.0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• </a:t>
            </a:r>
            <a:r>
              <a:rPr lang="es-ES_tradnl" noProof="0" dirty="0" err="1"/>
              <a:t>DataFrames</a:t>
            </a:r>
            <a:r>
              <a:rPr lang="es-ES_tradnl" noProof="0" dirty="0"/>
              <a:t xml:space="preserve"> para CSV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Limpieza de datos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Cálculos estadísticos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79360" y="1473942"/>
            <a:ext cx="3495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IA y NLP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 b="1">
                <a:solidFill>
                  <a:srgbClr val="FF0050"/>
                </a:solidFill>
              </a:defRPr>
            </a:pPr>
            <a:r>
              <a:rPr lang="es-ES_tradnl" noProof="0" dirty="0" err="1"/>
              <a:t>Groq</a:t>
            </a:r>
            <a:r>
              <a:rPr lang="es-ES_tradnl" noProof="0" dirty="0"/>
              <a:t xml:space="preserve"> API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Análisis de sentimientos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Clasificación de textos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• Generación de </a:t>
            </a:r>
            <a:r>
              <a:rPr lang="es-ES_tradnl" noProof="0" dirty="0" err="1"/>
              <a:t>insights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Visualización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 b="1">
                <a:solidFill>
                  <a:srgbClr val="FF0050"/>
                </a:solidFill>
              </a:defRPr>
            </a:pPr>
            <a:r>
              <a:rPr lang="es-ES_tradnl" noProof="0" dirty="0" err="1"/>
              <a:t>Matplotlib</a:t>
            </a:r>
            <a:r>
              <a:rPr lang="es-ES_tradnl" noProof="0" dirty="0"/>
              <a:t xml:space="preserve"> 3.10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Gráficas base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 b="1">
                <a:solidFill>
                  <a:srgbClr val="FF0050"/>
                </a:solidFill>
              </a:defRPr>
            </a:pPr>
            <a:r>
              <a:rPr lang="es-ES_tradnl" noProof="0" dirty="0" err="1"/>
              <a:t>Seaborn</a:t>
            </a:r>
            <a:r>
              <a:rPr lang="es-ES_tradnl" noProof="0" dirty="0"/>
              <a:t xml:space="preserve"> 0.13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Estilos y temas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700" b="1">
                <a:solidFill>
                  <a:srgbClr val="FF0050"/>
                </a:solidFill>
              </a:defRPr>
            </a:pPr>
            <a:r>
              <a:rPr lang="es-ES_tradnl" noProof="0" dirty="0" err="1"/>
              <a:t>WordCloud</a:t>
            </a:r>
            <a:r>
              <a:rPr lang="es-ES_tradnl" noProof="0" dirty="0"/>
              <a:t xml:space="preserve"> 1.9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Nubes de palabras</a:t>
            </a: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55C07B2E-A3D5-D101-D987-DEFB472F7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Instalación y configuración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4074160" y="1402080"/>
            <a:ext cx="4632960" cy="5120640"/>
          </a:xfrm>
          <a:prstGeom prst="roundRect">
            <a:avLst/>
          </a:prstGeom>
          <a:solidFill>
            <a:srgbClr val="191928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4257040" y="1584960"/>
            <a:ext cx="3952240" cy="3742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# Crear entorno virtual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$ </a:t>
            </a:r>
            <a:r>
              <a:rPr lang="es-ES_tradnl" noProof="0" dirty="0" err="1"/>
              <a:t>python</a:t>
            </a:r>
            <a:r>
              <a:rPr lang="es-ES_tradnl" noProof="0" dirty="0"/>
              <a:t xml:space="preserve"> -m </a:t>
            </a:r>
            <a:r>
              <a:rPr lang="es-ES_tradnl" noProof="0" dirty="0" err="1"/>
              <a:t>venv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venv</a:t>
            </a: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$ </a:t>
            </a:r>
            <a:r>
              <a:rPr lang="es-ES_tradnl" noProof="0" dirty="0" err="1"/>
              <a:t>venv</a:t>
            </a:r>
            <a:r>
              <a:rPr lang="es-ES_tradnl" noProof="0" dirty="0"/>
              <a:t>\Scripts\</a:t>
            </a:r>
            <a:r>
              <a:rPr lang="es-ES_tradnl" noProof="0" dirty="0" err="1"/>
              <a:t>activate</a:t>
            </a: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# Instalar dependencias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$ </a:t>
            </a:r>
            <a:r>
              <a:rPr lang="es-ES_tradnl" noProof="0" dirty="0" err="1"/>
              <a:t>pip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install</a:t>
            </a:r>
            <a:r>
              <a:rPr lang="es-ES_tradnl" noProof="0" dirty="0"/>
              <a:t xml:space="preserve"> -r requirements.txt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$ </a:t>
            </a:r>
            <a:r>
              <a:rPr lang="es-ES_tradnl" noProof="0" dirty="0" err="1"/>
              <a:t>playwright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install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chromium</a:t>
            </a: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# Variables de entorno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$ </a:t>
            </a:r>
            <a:r>
              <a:rPr lang="es-ES_tradnl" noProof="0" dirty="0" err="1"/>
              <a:t>cat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config</a:t>
            </a:r>
            <a:r>
              <a:rPr lang="es-ES_tradnl" noProof="0" dirty="0"/>
              <a:t>/.</a:t>
            </a:r>
            <a:r>
              <a:rPr lang="es-ES_tradnl" noProof="0" dirty="0" err="1"/>
              <a:t>env</a:t>
            </a: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Groq_API_KEY</a:t>
            </a:r>
            <a:r>
              <a:rPr lang="es-ES_tradnl" noProof="0" dirty="0"/>
              <a:t>=</a:t>
            </a:r>
            <a:r>
              <a:rPr lang="es-ES_tradnl" noProof="0" dirty="0" err="1"/>
              <a:t>tu_clave_aqui</a:t>
            </a: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TIKTOK_USERNAME=</a:t>
            </a:r>
            <a:r>
              <a:rPr lang="es-ES_tradnl" noProof="0" dirty="0" err="1"/>
              <a:t>tu_usuario</a:t>
            </a: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# Verificar instalación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$ </a:t>
            </a:r>
            <a:r>
              <a:rPr lang="es-ES_tradnl" noProof="0" dirty="0" err="1"/>
              <a:t>python</a:t>
            </a:r>
            <a:r>
              <a:rPr lang="es-ES_tradnl" noProof="0" dirty="0"/>
              <a:t xml:space="preserve"> -m </a:t>
            </a:r>
            <a:r>
              <a:rPr lang="es-ES_tradnl" noProof="0" dirty="0" err="1"/>
              <a:t>pytest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tests</a:t>
            </a:r>
            <a:r>
              <a:rPr lang="es-ES_tradnl" noProof="0" dirty="0"/>
              <a:t>/</a:t>
            </a: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A343C937-F727-AF4C-3444-9F14850B3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Componentes del sistema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2128520" y="1657008"/>
            <a:ext cx="3159760" cy="3677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 xml:space="preserve">1. </a:t>
            </a:r>
            <a:r>
              <a:rPr lang="es-ES_tradnl" noProof="0" dirty="0" err="1"/>
              <a:t>Scraper</a:t>
            </a:r>
            <a:r>
              <a:rPr lang="es-ES_tradnl" noProof="0" dirty="0"/>
              <a:t xml:space="preserve"> (</a:t>
            </a:r>
            <a:r>
              <a:rPr lang="es-ES_tradnl" noProof="0" dirty="0" err="1"/>
              <a:t>Playwright</a:t>
            </a:r>
            <a:r>
              <a:rPr lang="es-ES_tradnl" noProof="0" dirty="0"/>
              <a:t>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Automatiza navegador Chrome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Gestiona sesiones y cookies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Navega por TikTok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Captura datos dinámicos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 xml:space="preserve">2. </a:t>
            </a:r>
            <a:r>
              <a:rPr lang="es-ES_tradnl" noProof="0" dirty="0" err="1"/>
              <a:t>Parser</a:t>
            </a:r>
            <a:r>
              <a:rPr lang="es-ES_tradnl" noProof="0" dirty="0"/>
              <a:t xml:space="preserve"> &amp; Limpieza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• Extrae </a:t>
            </a:r>
            <a:r>
              <a:rPr lang="es-ES_tradnl" noProof="0" dirty="0" err="1"/>
              <a:t>URLs</a:t>
            </a:r>
            <a:r>
              <a:rPr lang="es-ES_tradnl" noProof="0" dirty="0"/>
              <a:t xml:space="preserve"> de videos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Estructura datos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Valida información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97800" y="1657008"/>
            <a:ext cx="3159760" cy="4780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3. Base de datos (CSV)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Almacena videos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Guarda comentarios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• </a:t>
            </a:r>
            <a:r>
              <a:rPr lang="es-ES_tradnl" noProof="0" dirty="0" err="1"/>
              <a:t>Checkpoints</a:t>
            </a:r>
            <a:r>
              <a:rPr lang="es-ES_tradnl" noProof="0" dirty="0"/>
              <a:t xml:space="preserve"> de progreso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4. Motor de Análisis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Procesa CSV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Cuenta estadísticas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Llamadas a IA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5. Visualización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Genera gráficas PNG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Crea reportes HTML</a:t>
            </a: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24352933-348B-5715-C1B1-35724D92EE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DA5D1-1435-A187-7007-30F4D8D61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7ABF64-C609-B7D2-9250-B093D1B8A0BE}"/>
              </a:ext>
            </a:extLst>
          </p:cNvPr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0E597CE-D1A0-99F9-5523-0B933846C193}"/>
              </a:ext>
            </a:extLst>
          </p:cNvPr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DA21B3-079E-1468-08A5-BCA5098C1D0A}"/>
              </a:ext>
            </a:extLst>
          </p:cNvPr>
          <p:cNvSpPr txBox="1"/>
          <p:nvPr/>
        </p:nvSpPr>
        <p:spPr>
          <a:xfrm>
            <a:off x="548640" y="228600"/>
            <a:ext cx="532709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Flujo extracción datos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6DEAF0-246B-409C-F3A9-0B8DC753881B}"/>
              </a:ext>
            </a:extLst>
          </p:cNvPr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E7EB5798-9861-0188-A551-07FA92FFD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  <p:pic>
        <p:nvPicPr>
          <p:cNvPr id="10" name="Imagen 9" descr="Diagrama&#10;&#10;El contenido generado por IA puede ser incorrecto.">
            <a:extLst>
              <a:ext uri="{FF2B5EF4-FFF2-40B4-BE49-F238E27FC236}">
                <a16:creationId xmlns:a16="http://schemas.microsoft.com/office/drawing/2014/main" id="{1C1D0CA2-4D9A-8615-201E-8BAC223282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2221230"/>
            <a:ext cx="12067032" cy="358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085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Flujo de datos completo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798320" y="1862113"/>
            <a:ext cx="4641088" cy="4447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/>
          </a:p>
          <a:p>
            <a:pPr>
              <a:spcBef>
                <a:spcPts val="1200"/>
              </a:spcBef>
              <a:spcAft>
                <a:spcPts val="800"/>
              </a:spcAft>
              <a:defRPr sz="2200" b="1">
                <a:solidFill>
                  <a:srgbClr val="FF0050"/>
                </a:solidFill>
              </a:defRPr>
            </a:pPr>
            <a:r>
              <a:rPr lang="es-ES_tradnl" noProof="0" dirty="0"/>
              <a:t>FASE 1: SCRAPING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noProof="0" dirty="0"/>
              <a:t>TikTok (sitio web)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↓ (</a:t>
            </a:r>
            <a:r>
              <a:rPr lang="es-ES_tradnl" noProof="0" dirty="0" err="1"/>
              <a:t>Playwright</a:t>
            </a:r>
            <a:r>
              <a:rPr lang="es-ES_tradnl" noProof="0" dirty="0"/>
              <a:t xml:space="preserve"> navega)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noProof="0" dirty="0"/>
              <a:t>Página HTML con JavaScript renderizado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↓ (</a:t>
            </a:r>
            <a:r>
              <a:rPr lang="es-ES_tradnl" noProof="0" dirty="0" err="1"/>
              <a:t>Parser</a:t>
            </a:r>
            <a:r>
              <a:rPr lang="es-ES_tradnl" noProof="0" dirty="0"/>
              <a:t xml:space="preserve"> extrae datos)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noProof="0" dirty="0" err="1"/>
              <a:t>URLs</a:t>
            </a:r>
            <a:r>
              <a:rPr lang="es-ES_tradnl" noProof="0" dirty="0"/>
              <a:t xml:space="preserve"> de videos, metadatos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800"/>
              </a:spcAft>
              <a:defRPr sz="2200" b="1">
                <a:solidFill>
                  <a:srgbClr val="FF0050"/>
                </a:solidFill>
              </a:defRPr>
            </a:pPr>
            <a:r>
              <a:rPr lang="es-ES_tradnl" noProof="0" dirty="0"/>
              <a:t>FASE 2: ALMACENAMIENTO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CSV de videos (id, </a:t>
            </a:r>
            <a:r>
              <a:rPr lang="es-ES_tradnl" noProof="0" dirty="0" err="1"/>
              <a:t>url</a:t>
            </a:r>
            <a:r>
              <a:rPr lang="es-ES_tradnl" noProof="0" dirty="0"/>
              <a:t>, vistas, etc.)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↓ (Más </a:t>
            </a:r>
            <a:r>
              <a:rPr lang="es-ES_tradnl" noProof="0" dirty="0" err="1"/>
              <a:t>requests</a:t>
            </a:r>
            <a:r>
              <a:rPr lang="es-ES_tradnl" noProof="0" dirty="0"/>
              <a:t>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noProof="0" dirty="0"/>
              <a:t>CSV de comentarios (usuario, texto, fecha)</a:t>
            </a:r>
          </a:p>
        </p:txBody>
      </p:sp>
      <p:pic>
        <p:nvPicPr>
          <p:cNvPr id="7" name="Imagen 6" descr="Logotipo&#10;&#10;El contenido generado por IA puede ser incorrecto.">
            <a:extLst>
              <a:ext uri="{FF2B5EF4-FFF2-40B4-BE49-F238E27FC236}">
                <a16:creationId xmlns:a16="http://schemas.microsoft.com/office/drawing/2014/main" id="{9219ED3E-2168-9F37-49F0-006F33BDA2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40055307-0DD2-814D-51B4-2D1C054620AC}"/>
              </a:ext>
            </a:extLst>
          </p:cNvPr>
          <p:cNvSpPr txBox="1"/>
          <p:nvPr/>
        </p:nvSpPr>
        <p:spPr>
          <a:xfrm>
            <a:off x="7221220" y="1891851"/>
            <a:ext cx="3794254" cy="32060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800"/>
              </a:spcAft>
              <a:defRPr sz="2200" b="1">
                <a:solidFill>
                  <a:srgbClr val="FF0050"/>
                </a:solidFill>
              </a:defRPr>
            </a:pPr>
            <a:r>
              <a:rPr lang="es-ES_tradnl" noProof="0" dirty="0"/>
              <a:t>FASE 3: ANÁLISIS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noProof="0" dirty="0"/>
              <a:t>CSV → Pandas → Análisis estadístico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↓ (Llamada a </a:t>
            </a:r>
            <a:r>
              <a:rPr lang="es-ES_tradnl" noProof="0" dirty="0" err="1"/>
              <a:t>Groq</a:t>
            </a:r>
            <a:r>
              <a:rPr lang="es-ES_tradnl" noProof="0" dirty="0"/>
              <a:t xml:space="preserve"> API)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noProof="0" dirty="0"/>
              <a:t>Sentimientos (POS, NEG, NEU)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800"/>
              </a:spcAft>
              <a:defRPr sz="2200" b="1">
                <a:solidFill>
                  <a:srgbClr val="FF0050"/>
                </a:solidFill>
              </a:defRPr>
            </a:pPr>
            <a:r>
              <a:rPr lang="es-ES_tradnl" noProof="0" dirty="0"/>
              <a:t>FASE 4: VISUALIZACIÓN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noProof="0" dirty="0"/>
              <a:t>Gráficas PNG + HTML interactivo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054535" y="0"/>
            <a:ext cx="137160" cy="6858000"/>
          </a:xfrm>
          <a:prstGeom prst="rect">
            <a:avLst/>
          </a:prstGeom>
          <a:solidFill>
            <a:srgbClr val="00F2E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2743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0" b="1">
                <a:solidFill>
                  <a:srgbClr val="FF0050"/>
                </a:solidFill>
              </a:defRPr>
            </a:pPr>
            <a:r>
              <a:rPr lang="es-ES_tradnl" noProof="0" dirty="0"/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286000"/>
            <a:ext cx="73152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rPr lang="es-ES_tradnl" noProof="0" dirty="0">
                <a:solidFill>
                  <a:srgbClr val="080808"/>
                </a:solidFill>
              </a:rPr>
              <a:t>Implementación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4389120"/>
            <a:ext cx="7315200" cy="45720"/>
          </a:xfrm>
          <a:prstGeom prst="rect">
            <a:avLst/>
          </a:prstGeom>
          <a:solidFill>
            <a:srgbClr val="00F2E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pic>
        <p:nvPicPr>
          <p:cNvPr id="6" name="Imagen 5" descr="Logotipo&#10;&#10;El contenido generado por IA puede ser incorrecto.">
            <a:extLst>
              <a:ext uri="{FF2B5EF4-FFF2-40B4-BE49-F238E27FC236}">
                <a16:creationId xmlns:a16="http://schemas.microsoft.com/office/drawing/2014/main" id="{5CD695C6-3BEE-3CD4-C4BA-3ABFCE9C2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Paso 1: Guardar sesión de TikTok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3479800" y="1382502"/>
            <a:ext cx="5699760" cy="5120640"/>
          </a:xfrm>
          <a:prstGeom prst="roundRect">
            <a:avLst/>
          </a:prstGeom>
          <a:solidFill>
            <a:srgbClr val="191928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3662680" y="1565382"/>
            <a:ext cx="5598160" cy="4193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# 1-guardar_sesion.py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from </a:t>
            </a:r>
            <a:r>
              <a:rPr lang="es-ES_tradnl" noProof="0" dirty="0" err="1"/>
              <a:t>playwright.async_api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import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async_playwright</a:t>
            </a: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async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def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save_session</a:t>
            </a:r>
            <a:r>
              <a:rPr lang="es-ES_tradnl" noProof="0" dirty="0"/>
              <a:t>():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</a:t>
            </a:r>
            <a:r>
              <a:rPr lang="es-ES_tradnl" noProof="0" dirty="0" err="1"/>
              <a:t>async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with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async_playwright</a:t>
            </a:r>
            <a:r>
              <a:rPr lang="es-ES_tradnl" noProof="0" dirty="0"/>
              <a:t xml:space="preserve">() as </a:t>
            </a:r>
            <a:r>
              <a:rPr lang="es-ES_tradnl" noProof="0" dirty="0" err="1"/>
              <a:t>pw</a:t>
            </a:r>
            <a:r>
              <a:rPr lang="es-ES_tradnl" noProof="0" dirty="0"/>
              <a:t>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    browser = </a:t>
            </a:r>
            <a:r>
              <a:rPr lang="es-ES_tradnl" noProof="0" dirty="0" err="1"/>
              <a:t>await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pw.chromium.launch</a:t>
            </a:r>
            <a:r>
              <a:rPr lang="es-ES_tradnl" noProof="0" dirty="0"/>
              <a:t>()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    </a:t>
            </a:r>
            <a:r>
              <a:rPr lang="es-ES_tradnl" noProof="0" dirty="0" err="1"/>
              <a:t>context</a:t>
            </a:r>
            <a:r>
              <a:rPr lang="es-ES_tradnl" noProof="0" dirty="0"/>
              <a:t xml:space="preserve"> = </a:t>
            </a:r>
            <a:r>
              <a:rPr lang="es-ES_tradnl" noProof="0" dirty="0" err="1"/>
              <a:t>await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browser.new_context</a:t>
            </a:r>
            <a:r>
              <a:rPr lang="es-ES_tradnl" noProof="0" dirty="0"/>
              <a:t>()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    page = </a:t>
            </a:r>
            <a:r>
              <a:rPr lang="es-ES_tradnl" noProof="0" dirty="0" err="1"/>
              <a:t>await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context.new_page</a:t>
            </a:r>
            <a:r>
              <a:rPr lang="es-ES_tradnl" noProof="0" dirty="0"/>
              <a:t>()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    # Navegar a TikTok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    </a:t>
            </a:r>
            <a:r>
              <a:rPr lang="es-ES_tradnl" noProof="0" dirty="0" err="1"/>
              <a:t>await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page.goto</a:t>
            </a:r>
            <a:r>
              <a:rPr lang="es-ES_tradnl" noProof="0" dirty="0"/>
              <a:t>('https://www.tiktok.com')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    </a:t>
            </a:r>
            <a:r>
              <a:rPr lang="es-ES_tradnl" noProof="0" dirty="0" err="1"/>
              <a:t>print</a:t>
            </a:r>
            <a:r>
              <a:rPr lang="es-ES_tradnl" noProof="0" dirty="0"/>
              <a:t>('👤 Inicia sesión manualmente...')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    input('Presiona </a:t>
            </a:r>
            <a:r>
              <a:rPr lang="es-ES_tradnl" noProof="0" dirty="0" err="1"/>
              <a:t>Enter</a:t>
            </a:r>
            <a:r>
              <a:rPr lang="es-ES_tradnl" noProof="0" dirty="0"/>
              <a:t xml:space="preserve"> cuando termines')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    # Guardar cookies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    cookies = </a:t>
            </a:r>
            <a:r>
              <a:rPr lang="es-ES_tradnl" noProof="0" dirty="0" err="1"/>
              <a:t>await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context.cookies</a:t>
            </a:r>
            <a:r>
              <a:rPr lang="es-ES_tradnl" noProof="0" dirty="0"/>
              <a:t>()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    </a:t>
            </a:r>
            <a:r>
              <a:rPr lang="es-ES_tradnl" noProof="0" dirty="0" err="1"/>
              <a:t>save_cookies</a:t>
            </a:r>
            <a:r>
              <a:rPr lang="es-ES_tradnl" noProof="0" dirty="0"/>
              <a:t>(cookies)</a:t>
            </a: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EFF37BB2-B0ED-FF9E-C0B6-AEB555B387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Paso 2: Extraer videos de usuario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2946400" y="1371600"/>
            <a:ext cx="6807200" cy="5120640"/>
          </a:xfrm>
          <a:prstGeom prst="roundRect">
            <a:avLst/>
          </a:prstGeom>
          <a:solidFill>
            <a:srgbClr val="191928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3129280" y="1554480"/>
            <a:ext cx="6512560" cy="4419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# 1_tiktok_scraper_user.py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async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def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scrape_user_videos</a:t>
            </a:r>
            <a:r>
              <a:rPr lang="es-ES_tradnl" noProof="0" dirty="0"/>
              <a:t>(</a:t>
            </a:r>
            <a:r>
              <a:rPr lang="es-ES_tradnl" noProof="0" dirty="0" err="1"/>
              <a:t>username</a:t>
            </a:r>
            <a:r>
              <a:rPr lang="es-ES_tradnl" noProof="0" dirty="0"/>
              <a:t xml:space="preserve">: </a:t>
            </a:r>
            <a:r>
              <a:rPr lang="es-ES_tradnl" noProof="0" dirty="0" err="1"/>
              <a:t>str</a:t>
            </a:r>
            <a:r>
              <a:rPr lang="es-ES_tradnl" noProof="0" dirty="0"/>
              <a:t>):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</a:t>
            </a:r>
            <a:r>
              <a:rPr lang="es-ES_tradnl" noProof="0" dirty="0" err="1"/>
              <a:t>context</a:t>
            </a:r>
            <a:r>
              <a:rPr lang="es-ES_tradnl" noProof="0" dirty="0"/>
              <a:t xml:space="preserve"> = </a:t>
            </a:r>
            <a:r>
              <a:rPr lang="es-ES_tradnl" noProof="0" dirty="0" err="1"/>
              <a:t>await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ensure_context</a:t>
            </a:r>
            <a:r>
              <a:rPr lang="es-ES_tradnl" noProof="0" dirty="0"/>
              <a:t>()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page = </a:t>
            </a:r>
            <a:r>
              <a:rPr lang="es-ES_tradnl" noProof="0" dirty="0" err="1"/>
              <a:t>await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context.new_page</a:t>
            </a:r>
            <a:r>
              <a:rPr lang="es-ES_tradnl" noProof="0" dirty="0"/>
              <a:t>()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# Navegar a perfil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</a:t>
            </a:r>
            <a:r>
              <a:rPr lang="es-ES_tradnl" noProof="0" dirty="0" err="1"/>
              <a:t>await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page.goto</a:t>
            </a:r>
            <a:r>
              <a:rPr lang="es-ES_tradnl" noProof="0" dirty="0"/>
              <a:t>(</a:t>
            </a:r>
            <a:r>
              <a:rPr lang="es-ES_tradnl" noProof="0" dirty="0" err="1"/>
              <a:t>f'https</a:t>
            </a:r>
            <a:r>
              <a:rPr lang="es-ES_tradnl" noProof="0" dirty="0"/>
              <a:t>://www.tiktok.com/@{username}')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videos = []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</a:t>
            </a:r>
            <a:r>
              <a:rPr lang="es-ES_tradnl" noProof="0" dirty="0" err="1"/>
              <a:t>while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len</a:t>
            </a:r>
            <a:r>
              <a:rPr lang="es-ES_tradnl" noProof="0" dirty="0"/>
              <a:t>(videos) &lt; MAX_VIDEOS: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    # </a:t>
            </a:r>
            <a:r>
              <a:rPr lang="es-ES_tradnl" noProof="0" dirty="0" err="1"/>
              <a:t>Scroll</a:t>
            </a:r>
            <a:r>
              <a:rPr lang="es-ES_tradnl" noProof="0" dirty="0"/>
              <a:t xml:space="preserve"> y extrae </a:t>
            </a:r>
            <a:r>
              <a:rPr lang="es-ES_tradnl" noProof="0" dirty="0" err="1"/>
              <a:t>URLs</a:t>
            </a: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    links = </a:t>
            </a:r>
            <a:r>
              <a:rPr lang="es-ES_tradnl" noProof="0" dirty="0" err="1"/>
              <a:t>await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page.query_selector_all</a:t>
            </a:r>
            <a:r>
              <a:rPr lang="es-ES_tradnl" noProof="0" dirty="0"/>
              <a:t>('a[</a:t>
            </a:r>
            <a:r>
              <a:rPr lang="es-ES_tradnl" noProof="0" dirty="0" err="1"/>
              <a:t>href</a:t>
            </a:r>
            <a:r>
              <a:rPr lang="es-ES_tradnl" noProof="0" dirty="0"/>
              <a:t>*="/video/"]')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    </a:t>
            </a:r>
            <a:r>
              <a:rPr lang="es-ES_tradnl" noProof="0" dirty="0" err="1"/>
              <a:t>for</a:t>
            </a:r>
            <a:r>
              <a:rPr lang="es-ES_tradnl" noProof="0" dirty="0"/>
              <a:t xml:space="preserve"> link in links: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        </a:t>
            </a:r>
            <a:r>
              <a:rPr lang="es-ES_tradnl" noProof="0" dirty="0" err="1"/>
              <a:t>url</a:t>
            </a:r>
            <a:r>
              <a:rPr lang="es-ES_tradnl" noProof="0" dirty="0"/>
              <a:t xml:space="preserve"> = </a:t>
            </a:r>
            <a:r>
              <a:rPr lang="es-ES_tradnl" noProof="0" dirty="0" err="1"/>
              <a:t>await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link.get_attribute</a:t>
            </a:r>
            <a:r>
              <a:rPr lang="es-ES_tradnl" noProof="0" dirty="0"/>
              <a:t>('</a:t>
            </a:r>
            <a:r>
              <a:rPr lang="es-ES_tradnl" noProof="0" dirty="0" err="1"/>
              <a:t>href</a:t>
            </a:r>
            <a:r>
              <a:rPr lang="es-ES_tradnl" noProof="0" dirty="0"/>
              <a:t>')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        </a:t>
            </a:r>
            <a:r>
              <a:rPr lang="es-ES_tradnl" noProof="0" dirty="0" err="1"/>
              <a:t>videos.append</a:t>
            </a:r>
            <a:r>
              <a:rPr lang="es-ES_tradnl" noProof="0" dirty="0"/>
              <a:t>(</a:t>
            </a:r>
            <a:r>
              <a:rPr lang="es-ES_tradnl" noProof="0" dirty="0" err="1"/>
              <a:t>url</a:t>
            </a:r>
            <a:r>
              <a:rPr lang="es-ES_tradnl" noProof="0" dirty="0"/>
              <a:t>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    </a:t>
            </a:r>
            <a:r>
              <a:rPr lang="es-ES_tradnl" noProof="0" dirty="0" err="1"/>
              <a:t>await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page.scroll_by</a:t>
            </a:r>
            <a:r>
              <a:rPr lang="es-ES_tradnl" noProof="0" dirty="0"/>
              <a:t>(0, 500)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</a:t>
            </a:r>
            <a:r>
              <a:rPr lang="es-ES_tradnl" noProof="0" dirty="0" err="1"/>
              <a:t>return</a:t>
            </a:r>
            <a:r>
              <a:rPr lang="es-ES_tradnl" noProof="0" dirty="0"/>
              <a:t xml:space="preserve"> videos</a:t>
            </a: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2195FE40-1072-5DD7-3FFD-00FBD783CB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Paso 3: Descargar comentarios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3034665" y="1382502"/>
            <a:ext cx="6976110" cy="5120640"/>
          </a:xfrm>
          <a:prstGeom prst="roundRect">
            <a:avLst/>
          </a:prstGeom>
          <a:solidFill>
            <a:srgbClr val="191928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3217545" y="1565382"/>
            <a:ext cx="671703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# 1_tiktok_scraper_comentarios.py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async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def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scrape_comments</a:t>
            </a:r>
            <a:r>
              <a:rPr lang="es-ES_tradnl" noProof="0" dirty="0"/>
              <a:t>(</a:t>
            </a:r>
            <a:r>
              <a:rPr lang="es-ES_tradnl" noProof="0" dirty="0" err="1"/>
              <a:t>video_id</a:t>
            </a:r>
            <a:r>
              <a:rPr lang="es-ES_tradnl" noProof="0" dirty="0"/>
              <a:t xml:space="preserve">: </a:t>
            </a:r>
            <a:r>
              <a:rPr lang="es-ES_tradnl" noProof="0" dirty="0" err="1"/>
              <a:t>str</a:t>
            </a:r>
            <a:r>
              <a:rPr lang="es-ES_tradnl" noProof="0" dirty="0"/>
              <a:t>):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# Interceptar llamadas a API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</a:t>
            </a:r>
            <a:r>
              <a:rPr lang="es-ES_tradnl" noProof="0" dirty="0" err="1"/>
              <a:t>comments</a:t>
            </a:r>
            <a:r>
              <a:rPr lang="es-ES_tradnl" noProof="0" dirty="0"/>
              <a:t xml:space="preserve"> = []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</a:t>
            </a:r>
            <a:r>
              <a:rPr lang="es-ES_tradnl" noProof="0" dirty="0" err="1"/>
              <a:t>async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def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handle_response</a:t>
            </a:r>
            <a:r>
              <a:rPr lang="es-ES_tradnl" noProof="0" dirty="0"/>
              <a:t>(response):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    </a:t>
            </a:r>
            <a:r>
              <a:rPr lang="es-ES_tradnl" noProof="0" dirty="0" err="1"/>
              <a:t>if</a:t>
            </a:r>
            <a:r>
              <a:rPr lang="es-ES_tradnl" noProof="0" dirty="0"/>
              <a:t xml:space="preserve"> '/api/</a:t>
            </a:r>
            <a:r>
              <a:rPr lang="es-ES_tradnl" noProof="0" dirty="0" err="1"/>
              <a:t>comment</a:t>
            </a:r>
            <a:r>
              <a:rPr lang="es-ES_tradnl" noProof="0" dirty="0"/>
              <a:t>/</a:t>
            </a:r>
            <a:r>
              <a:rPr lang="es-ES_tradnl" noProof="0" dirty="0" err="1"/>
              <a:t>list</a:t>
            </a:r>
            <a:r>
              <a:rPr lang="es-ES_tradnl" noProof="0" dirty="0"/>
              <a:t>/' in response.url: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        data = </a:t>
            </a:r>
            <a:r>
              <a:rPr lang="es-ES_tradnl" noProof="0" dirty="0" err="1"/>
              <a:t>await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response.json</a:t>
            </a:r>
            <a:r>
              <a:rPr lang="es-ES_tradnl" noProof="0" dirty="0"/>
              <a:t>()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        </a:t>
            </a:r>
            <a:r>
              <a:rPr lang="es-ES_tradnl" noProof="0" dirty="0" err="1"/>
              <a:t>comments.extend</a:t>
            </a:r>
            <a:r>
              <a:rPr lang="es-ES_tradnl" noProof="0" dirty="0"/>
              <a:t>(data['</a:t>
            </a:r>
            <a:r>
              <a:rPr lang="es-ES_tradnl" noProof="0" dirty="0" err="1"/>
              <a:t>comments</a:t>
            </a:r>
            <a:r>
              <a:rPr lang="es-ES_tradnl" noProof="0" dirty="0"/>
              <a:t>'])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</a:t>
            </a:r>
            <a:r>
              <a:rPr lang="es-ES_tradnl" noProof="0" dirty="0" err="1"/>
              <a:t>page.on</a:t>
            </a:r>
            <a:r>
              <a:rPr lang="es-ES_tradnl" noProof="0" dirty="0"/>
              <a:t xml:space="preserve">('response', </a:t>
            </a:r>
            <a:r>
              <a:rPr lang="es-ES_tradnl" noProof="0" dirty="0" err="1"/>
              <a:t>handle_response</a:t>
            </a:r>
            <a:r>
              <a:rPr lang="es-ES_tradnl" noProof="0" dirty="0"/>
              <a:t>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</a:t>
            </a:r>
            <a:r>
              <a:rPr lang="es-ES_tradnl" noProof="0" dirty="0" err="1"/>
              <a:t>await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page.goto</a:t>
            </a:r>
            <a:r>
              <a:rPr lang="es-ES_tradnl" noProof="0" dirty="0"/>
              <a:t>(</a:t>
            </a:r>
            <a:r>
              <a:rPr lang="es-ES_tradnl" noProof="0" dirty="0" err="1"/>
              <a:t>f'https</a:t>
            </a:r>
            <a:r>
              <a:rPr lang="es-ES_tradnl" noProof="0" dirty="0"/>
              <a:t>://www.tiktok.com/@user/video/{video_id}')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# </a:t>
            </a:r>
            <a:r>
              <a:rPr lang="es-ES_tradnl" noProof="0" dirty="0" err="1"/>
              <a:t>Scroll</a:t>
            </a:r>
            <a:r>
              <a:rPr lang="es-ES_tradnl" noProof="0" dirty="0"/>
              <a:t xml:space="preserve"> para cargar más comentarios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</a:t>
            </a:r>
            <a:r>
              <a:rPr lang="es-ES_tradnl" noProof="0" dirty="0" err="1"/>
              <a:t>for</a:t>
            </a:r>
            <a:r>
              <a:rPr lang="es-ES_tradnl" noProof="0" dirty="0"/>
              <a:t xml:space="preserve"> _ in </a:t>
            </a:r>
            <a:r>
              <a:rPr lang="es-ES_tradnl" noProof="0" dirty="0" err="1"/>
              <a:t>range</a:t>
            </a:r>
            <a:r>
              <a:rPr lang="es-ES_tradnl" noProof="0" dirty="0"/>
              <a:t>(10):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    </a:t>
            </a:r>
            <a:r>
              <a:rPr lang="es-ES_tradnl" noProof="0" dirty="0" err="1"/>
              <a:t>await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page.scroll_by</a:t>
            </a:r>
            <a:r>
              <a:rPr lang="es-ES_tradnl" noProof="0" dirty="0"/>
              <a:t>(0, 300)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    </a:t>
            </a:r>
            <a:r>
              <a:rPr lang="es-ES_tradnl" noProof="0" dirty="0" err="1"/>
              <a:t>await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page.wait_for_timeout</a:t>
            </a:r>
            <a:r>
              <a:rPr lang="es-ES_tradnl" noProof="0" dirty="0"/>
              <a:t>(500)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    </a:t>
            </a:r>
            <a:r>
              <a:rPr lang="es-ES_tradnl" noProof="0" dirty="0" err="1"/>
              <a:t>return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comments</a:t>
            </a:r>
            <a:endParaRPr lang="es-ES_tradnl" noProof="0" dirty="0"/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54230E86-3CB3-60F2-89FB-B9CBC10C3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Paso 4: Análisis con Pandas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2707640" y="1382502"/>
            <a:ext cx="6593840" cy="5120640"/>
          </a:xfrm>
          <a:prstGeom prst="roundRect">
            <a:avLst/>
          </a:prstGeom>
          <a:solidFill>
            <a:srgbClr val="191928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2890520" y="1565382"/>
            <a:ext cx="6410960" cy="4419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# analitica_publicaciones.py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import</a:t>
            </a:r>
            <a:r>
              <a:rPr lang="es-ES_tradnl" noProof="0" dirty="0"/>
              <a:t xml:space="preserve"> pandas as </a:t>
            </a:r>
            <a:r>
              <a:rPr lang="es-ES_tradnl" noProof="0" dirty="0" err="1"/>
              <a:t>pd</a:t>
            </a: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# Cargar CSV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df</a:t>
            </a:r>
            <a:r>
              <a:rPr lang="es-ES_tradnl" noProof="0" dirty="0"/>
              <a:t xml:space="preserve"> = </a:t>
            </a:r>
            <a:r>
              <a:rPr lang="es-ES_tradnl" noProof="0" dirty="0" err="1"/>
              <a:t>pd.read_csv</a:t>
            </a:r>
            <a:r>
              <a:rPr lang="es-ES_tradnl" noProof="0" dirty="0"/>
              <a:t>('videos.csv')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# Estadísticas básicas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print</a:t>
            </a:r>
            <a:r>
              <a:rPr lang="es-ES_tradnl" noProof="0" dirty="0"/>
              <a:t>(</a:t>
            </a:r>
            <a:r>
              <a:rPr lang="es-ES_tradnl" noProof="0" dirty="0" err="1"/>
              <a:t>f'Videos</a:t>
            </a:r>
            <a:r>
              <a:rPr lang="es-ES_tradnl" noProof="0" dirty="0"/>
              <a:t>: {</a:t>
            </a:r>
            <a:r>
              <a:rPr lang="es-ES_tradnl" noProof="0" dirty="0" err="1"/>
              <a:t>len</a:t>
            </a:r>
            <a:r>
              <a:rPr lang="es-ES_tradnl" noProof="0" dirty="0"/>
              <a:t>(</a:t>
            </a:r>
            <a:r>
              <a:rPr lang="es-ES_tradnl" noProof="0" dirty="0" err="1"/>
              <a:t>df</a:t>
            </a:r>
            <a:r>
              <a:rPr lang="es-ES_tradnl" noProof="0" dirty="0"/>
              <a:t>)}')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print</a:t>
            </a:r>
            <a:r>
              <a:rPr lang="es-ES_tradnl" noProof="0" dirty="0"/>
              <a:t>(</a:t>
            </a:r>
            <a:r>
              <a:rPr lang="es-ES_tradnl" noProof="0" dirty="0" err="1"/>
              <a:t>f'Vistas</a:t>
            </a:r>
            <a:r>
              <a:rPr lang="es-ES_tradnl" noProof="0" dirty="0"/>
              <a:t xml:space="preserve"> promedio: {</a:t>
            </a:r>
            <a:r>
              <a:rPr lang="es-ES_tradnl" noProof="0" dirty="0" err="1"/>
              <a:t>df</a:t>
            </a:r>
            <a:r>
              <a:rPr lang="es-ES_tradnl" noProof="0" dirty="0"/>
              <a:t>["</a:t>
            </a:r>
            <a:r>
              <a:rPr lang="es-ES_tradnl" noProof="0" dirty="0" err="1"/>
              <a:t>view_count</a:t>
            </a:r>
            <a:r>
              <a:rPr lang="es-ES_tradnl" noProof="0" dirty="0"/>
              <a:t>"].mean()}')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# Agrupar por fecha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df</a:t>
            </a:r>
            <a:r>
              <a:rPr lang="es-ES_tradnl" noProof="0" dirty="0"/>
              <a:t xml:space="preserve">['date'] = </a:t>
            </a:r>
            <a:r>
              <a:rPr lang="es-ES_tradnl" noProof="0" dirty="0" err="1"/>
              <a:t>pd.to_datetime</a:t>
            </a:r>
            <a:r>
              <a:rPr lang="es-ES_tradnl" noProof="0" dirty="0"/>
              <a:t>(</a:t>
            </a:r>
            <a:r>
              <a:rPr lang="es-ES_tradnl" noProof="0" dirty="0" err="1"/>
              <a:t>df</a:t>
            </a:r>
            <a:r>
              <a:rPr lang="es-ES_tradnl" noProof="0" dirty="0"/>
              <a:t>['</a:t>
            </a:r>
            <a:r>
              <a:rPr lang="es-ES_tradnl" noProof="0" dirty="0" err="1"/>
              <a:t>create_time</a:t>
            </a:r>
            <a:r>
              <a:rPr lang="es-ES_tradnl" noProof="0" dirty="0"/>
              <a:t>'])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daily_views</a:t>
            </a:r>
            <a:r>
              <a:rPr lang="es-ES_tradnl" noProof="0" dirty="0"/>
              <a:t xml:space="preserve"> = </a:t>
            </a:r>
            <a:r>
              <a:rPr lang="es-ES_tradnl" noProof="0" dirty="0" err="1"/>
              <a:t>df.groupby</a:t>
            </a:r>
            <a:r>
              <a:rPr lang="es-ES_tradnl" noProof="0" dirty="0"/>
              <a:t>(</a:t>
            </a:r>
            <a:r>
              <a:rPr lang="es-ES_tradnl" noProof="0" dirty="0" err="1"/>
              <a:t>df</a:t>
            </a:r>
            <a:r>
              <a:rPr lang="es-ES_tradnl" noProof="0" dirty="0"/>
              <a:t>['date'].</a:t>
            </a:r>
            <a:r>
              <a:rPr lang="es-ES_tradnl" noProof="0" dirty="0" err="1"/>
              <a:t>dt.date</a:t>
            </a:r>
            <a:r>
              <a:rPr lang="es-ES_tradnl" noProof="0" dirty="0"/>
              <a:t>)['</a:t>
            </a:r>
            <a:r>
              <a:rPr lang="es-ES_tradnl" noProof="0" dirty="0" err="1"/>
              <a:t>view_count</a:t>
            </a:r>
            <a:r>
              <a:rPr lang="es-ES_tradnl" noProof="0" dirty="0"/>
              <a:t>'].sum()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# Palabras clave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from </a:t>
            </a:r>
            <a:r>
              <a:rPr lang="es-ES_tradnl" noProof="0" dirty="0" err="1"/>
              <a:t>collections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import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Counter</a:t>
            </a: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words</a:t>
            </a:r>
            <a:r>
              <a:rPr lang="es-ES_tradnl" noProof="0" dirty="0"/>
              <a:t xml:space="preserve"> = ' '.</a:t>
            </a:r>
            <a:r>
              <a:rPr lang="es-ES_tradnl" noProof="0" dirty="0" err="1"/>
              <a:t>join</a:t>
            </a:r>
            <a:r>
              <a:rPr lang="es-ES_tradnl" noProof="0" dirty="0"/>
              <a:t>(</a:t>
            </a:r>
            <a:r>
              <a:rPr lang="es-ES_tradnl" noProof="0" dirty="0" err="1"/>
              <a:t>df</a:t>
            </a:r>
            <a:r>
              <a:rPr lang="es-ES_tradnl" noProof="0" dirty="0"/>
              <a:t>['</a:t>
            </a:r>
            <a:r>
              <a:rPr lang="es-ES_tradnl" noProof="0" dirty="0" err="1"/>
              <a:t>description</a:t>
            </a:r>
            <a:r>
              <a:rPr lang="es-ES_tradnl" noProof="0" dirty="0"/>
              <a:t>']).</a:t>
            </a:r>
            <a:r>
              <a:rPr lang="es-ES_tradnl" noProof="0" dirty="0" err="1"/>
              <a:t>split</a:t>
            </a:r>
            <a:r>
              <a:rPr lang="es-ES_tradnl" noProof="0" dirty="0"/>
              <a:t>()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top_words</a:t>
            </a:r>
            <a:r>
              <a:rPr lang="es-ES_tradnl" noProof="0" dirty="0"/>
              <a:t xml:space="preserve"> = </a:t>
            </a:r>
            <a:r>
              <a:rPr lang="es-ES_tradnl" noProof="0" dirty="0" err="1"/>
              <a:t>Counter</a:t>
            </a:r>
            <a:r>
              <a:rPr lang="es-ES_tradnl" noProof="0" dirty="0"/>
              <a:t>(</a:t>
            </a:r>
            <a:r>
              <a:rPr lang="es-ES_tradnl" noProof="0" dirty="0" err="1"/>
              <a:t>words</a:t>
            </a:r>
            <a:r>
              <a:rPr lang="es-ES_tradnl" noProof="0" dirty="0"/>
              <a:t>).</a:t>
            </a:r>
            <a:r>
              <a:rPr lang="es-ES_tradnl" noProof="0" dirty="0" err="1"/>
              <a:t>most_common</a:t>
            </a:r>
            <a:r>
              <a:rPr lang="es-ES_tradnl" noProof="0" dirty="0"/>
              <a:t>(20)</a:t>
            </a: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FEF6AD09-E6ED-3E49-FF6A-D75649C2E2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Paso 5: IA - Análisis de sentimientos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2661920" y="1368206"/>
            <a:ext cx="7319111" cy="5336731"/>
          </a:xfrm>
          <a:prstGeom prst="roundRect">
            <a:avLst/>
          </a:prstGeom>
          <a:solidFill>
            <a:srgbClr val="191928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2859467" y="1551087"/>
            <a:ext cx="701183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s-ES_tradnl" noProof="0" dirty="0"/>
            </a:br>
            <a:r>
              <a:rPr lang="es-ES_tradnl" noProof="0" dirty="0">
                <a:solidFill>
                  <a:srgbClr val="00F2EA"/>
                </a:solidFill>
              </a:rPr>
              <a:t># analizar_sentimiento_Groq.py</a:t>
            </a:r>
            <a:br>
              <a:rPr lang="es-ES_tradnl" noProof="0" dirty="0">
                <a:solidFill>
                  <a:srgbClr val="00F2EA"/>
                </a:solidFill>
              </a:rPr>
            </a:br>
            <a:r>
              <a:rPr lang="es-ES_tradnl" noProof="0" dirty="0" err="1">
                <a:solidFill>
                  <a:srgbClr val="00F2EA"/>
                </a:solidFill>
              </a:rPr>
              <a:t>import</a:t>
            </a:r>
            <a:r>
              <a:rPr lang="es-ES_tradnl" noProof="0" dirty="0">
                <a:solidFill>
                  <a:srgbClr val="00F2EA"/>
                </a:solidFill>
              </a:rPr>
              <a:t xml:space="preserve"> </a:t>
            </a:r>
            <a:r>
              <a:rPr lang="es-ES_tradnl" noProof="0" dirty="0" err="1">
                <a:solidFill>
                  <a:srgbClr val="00F2EA"/>
                </a:solidFill>
              </a:rPr>
              <a:t>google.generativeai</a:t>
            </a:r>
            <a:r>
              <a:rPr lang="es-ES_tradnl" noProof="0" dirty="0">
                <a:solidFill>
                  <a:srgbClr val="00F2EA"/>
                </a:solidFill>
              </a:rPr>
              <a:t xml:space="preserve"> as </a:t>
            </a:r>
            <a:r>
              <a:rPr lang="es-ES_tradnl" noProof="0" dirty="0" err="1">
                <a:solidFill>
                  <a:srgbClr val="00F2EA"/>
                </a:solidFill>
              </a:rPr>
              <a:t>genai</a:t>
            </a:r>
            <a:br>
              <a:rPr lang="es-ES_tradnl" noProof="0" dirty="0">
                <a:solidFill>
                  <a:srgbClr val="00F2EA"/>
                </a:solidFill>
              </a:rPr>
            </a:br>
            <a:br>
              <a:rPr lang="es-ES_tradnl" noProof="0" dirty="0">
                <a:solidFill>
                  <a:srgbClr val="00F2EA"/>
                </a:solidFill>
              </a:rPr>
            </a:br>
            <a:r>
              <a:rPr lang="es-ES_tradnl" noProof="0" dirty="0" err="1">
                <a:solidFill>
                  <a:srgbClr val="00F2EA"/>
                </a:solidFill>
              </a:rPr>
              <a:t>client</a:t>
            </a:r>
            <a:r>
              <a:rPr lang="es-ES_tradnl" noProof="0" dirty="0">
                <a:solidFill>
                  <a:srgbClr val="00F2EA"/>
                </a:solidFill>
              </a:rPr>
              <a:t xml:space="preserve"> = </a:t>
            </a:r>
            <a:r>
              <a:rPr lang="es-ES_tradnl" noProof="0" dirty="0" err="1">
                <a:solidFill>
                  <a:srgbClr val="00F2EA"/>
                </a:solidFill>
              </a:rPr>
              <a:t>Groq</a:t>
            </a:r>
            <a:r>
              <a:rPr lang="es-ES_tradnl" noProof="0" dirty="0">
                <a:solidFill>
                  <a:srgbClr val="00F2EA"/>
                </a:solidFill>
              </a:rPr>
              <a:t>(</a:t>
            </a:r>
            <a:r>
              <a:rPr lang="es-ES_tradnl" noProof="0" dirty="0" err="1">
                <a:solidFill>
                  <a:srgbClr val="00F2EA"/>
                </a:solidFill>
              </a:rPr>
              <a:t>api_key</a:t>
            </a:r>
            <a:r>
              <a:rPr lang="es-ES_tradnl" noProof="0" dirty="0">
                <a:solidFill>
                  <a:srgbClr val="00F2EA"/>
                </a:solidFill>
              </a:rPr>
              <a:t>='...')</a:t>
            </a:r>
            <a:br>
              <a:rPr lang="es-ES_tradnl" noProof="0" dirty="0">
                <a:solidFill>
                  <a:srgbClr val="00F2EA"/>
                </a:solidFill>
              </a:rPr>
            </a:br>
            <a:r>
              <a:rPr lang="es-ES_tradnl" noProof="0" dirty="0" err="1">
                <a:solidFill>
                  <a:srgbClr val="00F2EA"/>
                </a:solidFill>
              </a:rPr>
              <a:t>model</a:t>
            </a:r>
            <a:r>
              <a:rPr lang="es-ES_tradnl" noProof="0" dirty="0">
                <a:solidFill>
                  <a:srgbClr val="00F2EA"/>
                </a:solidFill>
              </a:rPr>
              <a:t xml:space="preserve"> = </a:t>
            </a:r>
            <a:r>
              <a:rPr lang="es-ES_tradnl" noProof="0" dirty="0" err="1">
                <a:solidFill>
                  <a:srgbClr val="00F2EA"/>
                </a:solidFill>
              </a:rPr>
              <a:t>genai.GenerativeModel</a:t>
            </a:r>
            <a:r>
              <a:rPr lang="es-ES_tradnl" noProof="0" dirty="0">
                <a:solidFill>
                  <a:srgbClr val="00F2EA"/>
                </a:solidFill>
              </a:rPr>
              <a:t>('</a:t>
            </a:r>
            <a:r>
              <a:rPr lang="es-ES_tradnl" noProof="0" dirty="0" err="1">
                <a:solidFill>
                  <a:srgbClr val="00F2EA"/>
                </a:solidFill>
              </a:rPr>
              <a:t>Groq</a:t>
            </a:r>
            <a:r>
              <a:rPr lang="es-ES_tradnl" noProof="0" dirty="0">
                <a:solidFill>
                  <a:srgbClr val="00F2EA"/>
                </a:solidFill>
              </a:rPr>
              <a:t>-flash-lite-</a:t>
            </a:r>
            <a:r>
              <a:rPr lang="es-ES_tradnl" noProof="0" dirty="0" err="1">
                <a:solidFill>
                  <a:srgbClr val="00F2EA"/>
                </a:solidFill>
              </a:rPr>
              <a:t>latest</a:t>
            </a:r>
            <a:r>
              <a:rPr lang="es-ES_tradnl" noProof="0" dirty="0">
                <a:solidFill>
                  <a:srgbClr val="00F2EA"/>
                </a:solidFill>
              </a:rPr>
              <a:t>')</a:t>
            </a:r>
            <a:br>
              <a:rPr lang="es-ES_tradnl" noProof="0" dirty="0">
                <a:solidFill>
                  <a:srgbClr val="00F2EA"/>
                </a:solidFill>
              </a:rPr>
            </a:br>
            <a:br>
              <a:rPr lang="es-ES_tradnl" noProof="0" dirty="0">
                <a:solidFill>
                  <a:srgbClr val="00F2EA"/>
                </a:solidFill>
              </a:rPr>
            </a:br>
            <a:r>
              <a:rPr lang="es-ES_tradnl" noProof="0" dirty="0" err="1">
                <a:solidFill>
                  <a:srgbClr val="00F2EA"/>
                </a:solidFill>
              </a:rPr>
              <a:t>def</a:t>
            </a:r>
            <a:r>
              <a:rPr lang="es-ES_tradnl" noProof="0" dirty="0">
                <a:solidFill>
                  <a:srgbClr val="00F2EA"/>
                </a:solidFill>
              </a:rPr>
              <a:t xml:space="preserve"> </a:t>
            </a:r>
            <a:r>
              <a:rPr lang="es-ES_tradnl" noProof="0" dirty="0" err="1">
                <a:solidFill>
                  <a:srgbClr val="00F2EA"/>
                </a:solidFill>
              </a:rPr>
              <a:t>analyze_sentiment</a:t>
            </a:r>
            <a:r>
              <a:rPr lang="es-ES_tradnl" noProof="0" dirty="0">
                <a:solidFill>
                  <a:srgbClr val="00F2EA"/>
                </a:solidFill>
              </a:rPr>
              <a:t>(</a:t>
            </a:r>
            <a:r>
              <a:rPr lang="es-ES_tradnl" noProof="0" dirty="0" err="1">
                <a:solidFill>
                  <a:srgbClr val="00F2EA"/>
                </a:solidFill>
              </a:rPr>
              <a:t>text</a:t>
            </a:r>
            <a:r>
              <a:rPr lang="es-ES_tradnl" noProof="0" dirty="0">
                <a:solidFill>
                  <a:srgbClr val="00F2EA"/>
                </a:solidFill>
              </a:rPr>
              <a:t xml:space="preserve">: </a:t>
            </a:r>
            <a:r>
              <a:rPr lang="es-ES_tradnl" noProof="0" dirty="0" err="1">
                <a:solidFill>
                  <a:srgbClr val="00F2EA"/>
                </a:solidFill>
              </a:rPr>
              <a:t>str</a:t>
            </a:r>
            <a:r>
              <a:rPr lang="es-ES_tradnl" noProof="0" dirty="0">
                <a:solidFill>
                  <a:srgbClr val="00F2EA"/>
                </a:solidFill>
              </a:rPr>
              <a:t xml:space="preserve">) -&gt; </a:t>
            </a:r>
            <a:r>
              <a:rPr lang="es-ES_tradnl" noProof="0" dirty="0" err="1">
                <a:solidFill>
                  <a:srgbClr val="00F2EA"/>
                </a:solidFill>
              </a:rPr>
              <a:t>str</a:t>
            </a:r>
            <a:r>
              <a:rPr lang="es-ES_tradnl" noProof="0" dirty="0">
                <a:solidFill>
                  <a:srgbClr val="00F2EA"/>
                </a:solidFill>
              </a:rPr>
              <a:t>:</a:t>
            </a:r>
            <a:br>
              <a:rPr lang="es-ES_tradnl" noProof="0" dirty="0">
                <a:solidFill>
                  <a:srgbClr val="00F2EA"/>
                </a:solidFill>
              </a:rPr>
            </a:br>
            <a:r>
              <a:rPr lang="es-ES_tradnl" noProof="0" dirty="0">
                <a:solidFill>
                  <a:srgbClr val="00F2EA"/>
                </a:solidFill>
              </a:rPr>
              <a:t xml:space="preserve">    </a:t>
            </a:r>
            <a:r>
              <a:rPr lang="es-ES_tradnl" noProof="0" dirty="0" err="1">
                <a:solidFill>
                  <a:srgbClr val="00F2EA"/>
                </a:solidFill>
              </a:rPr>
              <a:t>prompt</a:t>
            </a:r>
            <a:r>
              <a:rPr lang="es-ES_tradnl" noProof="0" dirty="0">
                <a:solidFill>
                  <a:srgbClr val="00F2EA"/>
                </a:solidFill>
              </a:rPr>
              <a:t xml:space="preserve"> = </a:t>
            </a:r>
            <a:r>
              <a:rPr lang="es-ES_tradnl" noProof="0" dirty="0" err="1">
                <a:solidFill>
                  <a:srgbClr val="00F2EA"/>
                </a:solidFill>
              </a:rPr>
              <a:t>f'''Analiza</a:t>
            </a:r>
            <a:r>
              <a:rPr lang="es-ES_tradnl" noProof="0" dirty="0">
                <a:solidFill>
                  <a:srgbClr val="00F2EA"/>
                </a:solidFill>
              </a:rPr>
              <a:t xml:space="preserve"> el sentimiento de este texto.</a:t>
            </a:r>
            <a:br>
              <a:rPr lang="es-ES_tradnl" noProof="0" dirty="0">
                <a:solidFill>
                  <a:srgbClr val="00F2EA"/>
                </a:solidFill>
              </a:rPr>
            </a:br>
            <a:r>
              <a:rPr lang="es-ES_tradnl" noProof="0" dirty="0">
                <a:solidFill>
                  <a:srgbClr val="00F2EA"/>
                </a:solidFill>
              </a:rPr>
              <a:t xml:space="preserve">    Responde SOLO con: POS, NEG o NEU</a:t>
            </a:r>
            <a:br>
              <a:rPr lang="es-ES_tradnl" noProof="0" dirty="0">
                <a:solidFill>
                  <a:srgbClr val="00F2EA"/>
                </a:solidFill>
              </a:rPr>
            </a:br>
            <a:r>
              <a:rPr lang="es-ES_tradnl" noProof="0" dirty="0">
                <a:solidFill>
                  <a:srgbClr val="00F2EA"/>
                </a:solidFill>
              </a:rPr>
              <a:t xml:space="preserve">    Texto: {</a:t>
            </a:r>
            <a:r>
              <a:rPr lang="es-ES_tradnl" noProof="0" dirty="0" err="1">
                <a:solidFill>
                  <a:srgbClr val="00F2EA"/>
                </a:solidFill>
              </a:rPr>
              <a:t>text</a:t>
            </a:r>
            <a:r>
              <a:rPr lang="es-ES_tradnl" noProof="0" dirty="0">
                <a:solidFill>
                  <a:srgbClr val="00F2EA"/>
                </a:solidFill>
              </a:rPr>
              <a:t>}'''</a:t>
            </a:r>
            <a:br>
              <a:rPr lang="es-ES_tradnl" noProof="0" dirty="0">
                <a:solidFill>
                  <a:srgbClr val="00F2EA"/>
                </a:solidFill>
              </a:rPr>
            </a:br>
            <a:br>
              <a:rPr lang="es-ES_tradnl" noProof="0" dirty="0">
                <a:solidFill>
                  <a:srgbClr val="00F2EA"/>
                </a:solidFill>
              </a:rPr>
            </a:br>
            <a:r>
              <a:rPr lang="es-ES_tradnl" noProof="0" dirty="0">
                <a:solidFill>
                  <a:srgbClr val="00F2EA"/>
                </a:solidFill>
              </a:rPr>
              <a:t xml:space="preserve">    response = </a:t>
            </a:r>
            <a:r>
              <a:rPr lang="es-ES_tradnl" noProof="0" dirty="0" err="1">
                <a:solidFill>
                  <a:srgbClr val="00F2EA"/>
                </a:solidFill>
              </a:rPr>
              <a:t>model.chat.completions.create</a:t>
            </a:r>
            <a:r>
              <a:rPr lang="es-ES_tradnl" noProof="0" dirty="0">
                <a:solidFill>
                  <a:srgbClr val="00F2EA"/>
                </a:solidFill>
              </a:rPr>
              <a:t>(</a:t>
            </a:r>
            <a:r>
              <a:rPr lang="es-ES_tradnl" noProof="0" dirty="0" err="1">
                <a:solidFill>
                  <a:srgbClr val="00F2EA"/>
                </a:solidFill>
              </a:rPr>
              <a:t>prompt</a:t>
            </a:r>
            <a:r>
              <a:rPr lang="es-ES_tradnl" noProof="0" dirty="0">
                <a:solidFill>
                  <a:srgbClr val="00F2EA"/>
                </a:solidFill>
              </a:rPr>
              <a:t>)</a:t>
            </a:r>
            <a:br>
              <a:rPr lang="es-ES_tradnl" noProof="0" dirty="0">
                <a:solidFill>
                  <a:srgbClr val="00F2EA"/>
                </a:solidFill>
              </a:rPr>
            </a:br>
            <a:r>
              <a:rPr lang="es-ES_tradnl" noProof="0" dirty="0">
                <a:solidFill>
                  <a:srgbClr val="00F2EA"/>
                </a:solidFill>
              </a:rPr>
              <a:t xml:space="preserve">    </a:t>
            </a:r>
            <a:r>
              <a:rPr lang="es-ES_tradnl" noProof="0" dirty="0" err="1">
                <a:solidFill>
                  <a:srgbClr val="00F2EA"/>
                </a:solidFill>
              </a:rPr>
              <a:t>return</a:t>
            </a:r>
            <a:r>
              <a:rPr lang="es-ES_tradnl" noProof="0" dirty="0">
                <a:solidFill>
                  <a:srgbClr val="00F2EA"/>
                </a:solidFill>
              </a:rPr>
              <a:t xml:space="preserve"> </a:t>
            </a:r>
            <a:r>
              <a:rPr lang="es-ES_tradnl" noProof="0" dirty="0" err="1">
                <a:solidFill>
                  <a:srgbClr val="00F2EA"/>
                </a:solidFill>
              </a:rPr>
              <a:t>response.text.strip</a:t>
            </a:r>
            <a:r>
              <a:rPr lang="es-ES_tradnl" noProof="0" dirty="0">
                <a:solidFill>
                  <a:srgbClr val="00F2EA"/>
                </a:solidFill>
              </a:rPr>
              <a:t>()  # POS, NEG o NEU</a:t>
            </a:r>
            <a:br>
              <a:rPr lang="es-ES_tradnl" noProof="0" dirty="0">
                <a:solidFill>
                  <a:srgbClr val="00F2EA"/>
                </a:solidFill>
              </a:rPr>
            </a:br>
            <a:br>
              <a:rPr lang="es-ES_tradnl" noProof="0" dirty="0">
                <a:solidFill>
                  <a:srgbClr val="00F2EA"/>
                </a:solidFill>
              </a:rPr>
            </a:br>
            <a:r>
              <a:rPr lang="es-ES_tradnl" noProof="0" dirty="0">
                <a:solidFill>
                  <a:srgbClr val="00F2EA"/>
                </a:solidFill>
              </a:rPr>
              <a:t># Procesar todos los comentarios</a:t>
            </a:r>
            <a:br>
              <a:rPr lang="es-ES_tradnl" noProof="0" dirty="0">
                <a:solidFill>
                  <a:srgbClr val="00F2EA"/>
                </a:solidFill>
              </a:rPr>
            </a:br>
            <a:r>
              <a:rPr lang="es-ES_tradnl" noProof="0" dirty="0" err="1">
                <a:solidFill>
                  <a:srgbClr val="00F2EA"/>
                </a:solidFill>
              </a:rPr>
              <a:t>df</a:t>
            </a:r>
            <a:r>
              <a:rPr lang="es-ES_tradnl" noProof="0" dirty="0">
                <a:solidFill>
                  <a:srgbClr val="00F2EA"/>
                </a:solidFill>
              </a:rPr>
              <a:t>['</a:t>
            </a:r>
            <a:r>
              <a:rPr lang="es-ES_tradnl" noProof="0" dirty="0" err="1">
                <a:solidFill>
                  <a:srgbClr val="00F2EA"/>
                </a:solidFill>
              </a:rPr>
              <a:t>sentiment</a:t>
            </a:r>
            <a:r>
              <a:rPr lang="es-ES_tradnl" noProof="0" dirty="0">
                <a:solidFill>
                  <a:srgbClr val="00F2EA"/>
                </a:solidFill>
              </a:rPr>
              <a:t xml:space="preserve">'] = </a:t>
            </a:r>
            <a:r>
              <a:rPr lang="es-ES_tradnl" noProof="0" dirty="0" err="1">
                <a:solidFill>
                  <a:srgbClr val="00F2EA"/>
                </a:solidFill>
              </a:rPr>
              <a:t>df</a:t>
            </a:r>
            <a:r>
              <a:rPr lang="es-ES_tradnl" noProof="0" dirty="0">
                <a:solidFill>
                  <a:srgbClr val="00F2EA"/>
                </a:solidFill>
              </a:rPr>
              <a:t>['</a:t>
            </a:r>
            <a:r>
              <a:rPr lang="es-ES_tradnl" noProof="0" dirty="0" err="1">
                <a:solidFill>
                  <a:srgbClr val="00F2EA"/>
                </a:solidFill>
              </a:rPr>
              <a:t>comment_text</a:t>
            </a:r>
            <a:r>
              <a:rPr lang="es-ES_tradnl" noProof="0" dirty="0">
                <a:solidFill>
                  <a:srgbClr val="00F2EA"/>
                </a:solidFill>
              </a:rPr>
              <a:t>'].</a:t>
            </a:r>
            <a:r>
              <a:rPr lang="es-ES_tradnl" noProof="0" dirty="0" err="1">
                <a:solidFill>
                  <a:srgbClr val="00F2EA"/>
                </a:solidFill>
              </a:rPr>
              <a:t>apply</a:t>
            </a:r>
            <a:r>
              <a:rPr lang="es-ES_tradnl" noProof="0" dirty="0">
                <a:solidFill>
                  <a:srgbClr val="00F2EA"/>
                </a:solidFill>
              </a:rPr>
              <a:t>(</a:t>
            </a:r>
            <a:r>
              <a:rPr lang="es-ES_tradnl" noProof="0" dirty="0" err="1">
                <a:solidFill>
                  <a:srgbClr val="00F2EA"/>
                </a:solidFill>
              </a:rPr>
              <a:t>analyze_sentiment</a:t>
            </a:r>
            <a:r>
              <a:rPr lang="es-ES_tradnl" noProof="0" dirty="0">
                <a:solidFill>
                  <a:srgbClr val="00F2EA"/>
                </a:solidFill>
              </a:rPr>
              <a:t>)</a:t>
            </a:r>
            <a:br>
              <a:rPr lang="es-ES_tradnl" noProof="0" dirty="0">
                <a:solidFill>
                  <a:srgbClr val="00F2EA"/>
                </a:solidFill>
              </a:rPr>
            </a:br>
            <a:r>
              <a:rPr lang="es-ES_tradnl" noProof="0" dirty="0" err="1">
                <a:solidFill>
                  <a:srgbClr val="00F2EA"/>
                </a:solidFill>
              </a:rPr>
              <a:t>df.to_csv</a:t>
            </a:r>
            <a:r>
              <a:rPr lang="es-ES_tradnl" noProof="0" dirty="0">
                <a:solidFill>
                  <a:srgbClr val="00F2EA"/>
                </a:solidFill>
              </a:rPr>
              <a:t>('comentarios_con_sentimientos.csv')</a:t>
            </a: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656DD411-0D52-CDCA-061B-8791202FAC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 xml:space="preserve">Paso 6: Visualización con </a:t>
            </a:r>
            <a:r>
              <a:rPr lang="es-ES_tradnl" noProof="0" dirty="0" err="1"/>
              <a:t>Matplotlib</a:t>
            </a:r>
            <a:endParaRPr lang="es-ES_tradnl" noProof="0" dirty="0"/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3168751" y="1402080"/>
            <a:ext cx="5963920" cy="5120640"/>
          </a:xfrm>
          <a:prstGeom prst="roundRect">
            <a:avLst/>
          </a:prstGeom>
          <a:solidFill>
            <a:srgbClr val="191928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3351631" y="1584960"/>
            <a:ext cx="5628640" cy="4193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# analitica_publicaciones.py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import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matplotlib.pyplot</a:t>
            </a:r>
            <a:r>
              <a:rPr lang="es-ES_tradnl" noProof="0" dirty="0"/>
              <a:t xml:space="preserve"> as </a:t>
            </a:r>
            <a:r>
              <a:rPr lang="es-ES_tradnl" noProof="0" dirty="0" err="1"/>
              <a:t>plt</a:t>
            </a: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from </a:t>
            </a:r>
            <a:r>
              <a:rPr lang="es-ES_tradnl" noProof="0" dirty="0" err="1"/>
              <a:t>wordcloud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import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WordCloud</a:t>
            </a: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# Nube de palabras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text</a:t>
            </a:r>
            <a:r>
              <a:rPr lang="es-ES_tradnl" noProof="0" dirty="0"/>
              <a:t xml:space="preserve"> = ' '.</a:t>
            </a:r>
            <a:r>
              <a:rPr lang="es-ES_tradnl" noProof="0" dirty="0" err="1"/>
              <a:t>join</a:t>
            </a:r>
            <a:r>
              <a:rPr lang="es-ES_tradnl" noProof="0" dirty="0"/>
              <a:t>(</a:t>
            </a:r>
            <a:r>
              <a:rPr lang="es-ES_tradnl" noProof="0" dirty="0" err="1"/>
              <a:t>df</a:t>
            </a:r>
            <a:r>
              <a:rPr lang="es-ES_tradnl" noProof="0" dirty="0"/>
              <a:t>['</a:t>
            </a:r>
            <a:r>
              <a:rPr lang="es-ES_tradnl" noProof="0" dirty="0" err="1"/>
              <a:t>description</a:t>
            </a:r>
            <a:r>
              <a:rPr lang="es-ES_tradnl" noProof="0" dirty="0"/>
              <a:t>'])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wc</a:t>
            </a:r>
            <a:r>
              <a:rPr lang="es-ES_tradnl" noProof="0" dirty="0"/>
              <a:t xml:space="preserve"> = </a:t>
            </a:r>
            <a:r>
              <a:rPr lang="es-ES_tradnl" noProof="0" dirty="0" err="1"/>
              <a:t>WordCloud</a:t>
            </a:r>
            <a:r>
              <a:rPr lang="es-ES_tradnl" noProof="0" dirty="0"/>
              <a:t>(</a:t>
            </a:r>
            <a:r>
              <a:rPr lang="es-ES_tradnl" noProof="0" dirty="0" err="1"/>
              <a:t>width</a:t>
            </a:r>
            <a:r>
              <a:rPr lang="es-ES_tradnl" noProof="0" dirty="0"/>
              <a:t xml:space="preserve">=1600, </a:t>
            </a:r>
            <a:r>
              <a:rPr lang="es-ES_tradnl" noProof="0" dirty="0" err="1"/>
              <a:t>height</a:t>
            </a:r>
            <a:r>
              <a:rPr lang="es-ES_tradnl" noProof="0" dirty="0"/>
              <a:t>=900).</a:t>
            </a:r>
            <a:r>
              <a:rPr lang="es-ES_tradnl" noProof="0" dirty="0" err="1"/>
              <a:t>generate</a:t>
            </a:r>
            <a:r>
              <a:rPr lang="es-ES_tradnl" noProof="0" dirty="0"/>
              <a:t>(</a:t>
            </a:r>
            <a:r>
              <a:rPr lang="es-ES_tradnl" noProof="0" dirty="0" err="1"/>
              <a:t>text</a:t>
            </a:r>
            <a:r>
              <a:rPr lang="es-ES_tradnl" noProof="0" dirty="0"/>
              <a:t>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plt.figure</a:t>
            </a:r>
            <a:r>
              <a:rPr lang="es-ES_tradnl" noProof="0" dirty="0"/>
              <a:t>(</a:t>
            </a:r>
            <a:r>
              <a:rPr lang="es-ES_tradnl" noProof="0" dirty="0" err="1"/>
              <a:t>figsize</a:t>
            </a:r>
            <a:r>
              <a:rPr lang="es-ES_tradnl" noProof="0" dirty="0"/>
              <a:t>=(16, 9))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plt.imshow</a:t>
            </a:r>
            <a:r>
              <a:rPr lang="es-ES_tradnl" noProof="0" dirty="0"/>
              <a:t>(</a:t>
            </a:r>
            <a:r>
              <a:rPr lang="es-ES_tradnl" noProof="0" dirty="0" err="1"/>
              <a:t>wc</a:t>
            </a:r>
            <a:r>
              <a:rPr lang="es-ES_tradnl" noProof="0" dirty="0"/>
              <a:t xml:space="preserve">, </a:t>
            </a:r>
            <a:r>
              <a:rPr lang="es-ES_tradnl" noProof="0" dirty="0" err="1"/>
              <a:t>interpolation</a:t>
            </a:r>
            <a:r>
              <a:rPr lang="es-ES_tradnl" noProof="0" dirty="0"/>
              <a:t>='</a:t>
            </a:r>
            <a:r>
              <a:rPr lang="es-ES_tradnl" noProof="0" dirty="0" err="1"/>
              <a:t>bilinear</a:t>
            </a:r>
            <a:r>
              <a:rPr lang="es-ES_tradnl" noProof="0" dirty="0"/>
              <a:t>')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plt.savefig</a:t>
            </a:r>
            <a:r>
              <a:rPr lang="es-ES_tradnl" noProof="0" dirty="0"/>
              <a:t>('nube_palabras.png', dpi=100)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# Gráfica de evolución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plt.plot</a:t>
            </a:r>
            <a:r>
              <a:rPr lang="es-ES_tradnl" noProof="0" dirty="0"/>
              <a:t>(</a:t>
            </a:r>
            <a:r>
              <a:rPr lang="es-ES_tradnl" noProof="0" dirty="0" err="1"/>
              <a:t>daily_views.index</a:t>
            </a:r>
            <a:r>
              <a:rPr lang="es-ES_tradnl" noProof="0" dirty="0"/>
              <a:t xml:space="preserve">, </a:t>
            </a:r>
            <a:r>
              <a:rPr lang="es-ES_tradnl" noProof="0" dirty="0" err="1"/>
              <a:t>daily_views.values</a:t>
            </a:r>
            <a:r>
              <a:rPr lang="es-ES_tradnl" noProof="0" dirty="0"/>
              <a:t>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plt.xlabel</a:t>
            </a:r>
            <a:r>
              <a:rPr lang="es-ES_tradnl" noProof="0" dirty="0"/>
              <a:t>('Fecha')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plt.ylabel</a:t>
            </a:r>
            <a:r>
              <a:rPr lang="es-ES_tradnl" noProof="0" dirty="0"/>
              <a:t>('Vistas')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plt.savefig</a:t>
            </a:r>
            <a:r>
              <a:rPr lang="es-ES_tradnl" noProof="0" dirty="0"/>
              <a:t>('evolucion_vistas.png')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plt.show</a:t>
            </a:r>
            <a:r>
              <a:rPr lang="es-ES_tradnl" noProof="0" dirty="0"/>
              <a:t>()</a:t>
            </a: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644992E3-442D-5C9D-6581-0C2513535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Paso 7: Informe HTML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812646" y="1473942"/>
            <a:ext cx="3454400" cy="3960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generar_informe_html.py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Crea HTML interactivo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Incrusta imágenes en base64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Compatible offline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Contenido del informe: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✅ </a:t>
            </a:r>
            <a:r>
              <a:rPr lang="es-ES_tradnl" noProof="0" dirty="0" err="1"/>
              <a:t>KPIs</a:t>
            </a:r>
            <a:r>
              <a:rPr lang="es-ES_tradnl" noProof="0" dirty="0"/>
              <a:t xml:space="preserve"> principales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Top videos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Análisis de sentimientos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Gráficas profesionales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1926" y="1473942"/>
            <a:ext cx="3454400" cy="4549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Ejemplo de estructura: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&lt;</a:t>
            </a:r>
            <a:r>
              <a:rPr lang="es-ES_tradnl" noProof="0" dirty="0" err="1"/>
              <a:t>header</a:t>
            </a:r>
            <a:r>
              <a:rPr lang="es-ES_tradnl" noProof="0" dirty="0"/>
              <a:t>&gt;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  &lt;h1&gt;@usuario&lt;/h1&gt;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  &lt;</a:t>
            </a:r>
            <a:r>
              <a:rPr lang="es-ES_tradnl" noProof="0" dirty="0" err="1"/>
              <a:t>div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class</a:t>
            </a:r>
            <a:r>
              <a:rPr lang="es-ES_tradnl" noProof="0" dirty="0"/>
              <a:t>='</a:t>
            </a:r>
            <a:r>
              <a:rPr lang="es-ES_tradnl" noProof="0" dirty="0" err="1"/>
              <a:t>kpi</a:t>
            </a:r>
            <a:r>
              <a:rPr lang="es-ES_tradnl" noProof="0" dirty="0"/>
              <a:t>'&gt;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    123.456 vistas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  &lt;/</a:t>
            </a:r>
            <a:r>
              <a:rPr lang="es-ES_tradnl" noProof="0" dirty="0" err="1"/>
              <a:t>div</a:t>
            </a:r>
            <a:r>
              <a:rPr lang="es-ES_tradnl" noProof="0" dirty="0"/>
              <a:t>&gt;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&lt;/</a:t>
            </a:r>
            <a:r>
              <a:rPr lang="es-ES_tradnl" noProof="0" dirty="0" err="1"/>
              <a:t>header</a:t>
            </a:r>
            <a:r>
              <a:rPr lang="es-ES_tradnl" noProof="0" dirty="0"/>
              <a:t>&gt;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&lt;</a:t>
            </a:r>
            <a:r>
              <a:rPr lang="es-ES_tradnl" noProof="0" dirty="0" err="1"/>
              <a:t>section</a:t>
            </a:r>
            <a:r>
              <a:rPr lang="es-ES_tradnl" noProof="0" dirty="0"/>
              <a:t>&gt;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  &lt;</a:t>
            </a:r>
            <a:r>
              <a:rPr lang="es-ES_tradnl" noProof="0" dirty="0" err="1"/>
              <a:t>img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src</a:t>
            </a:r>
            <a:r>
              <a:rPr lang="es-ES_tradnl" noProof="0" dirty="0"/>
              <a:t>='</a:t>
            </a:r>
            <a:r>
              <a:rPr lang="es-ES_tradnl" noProof="0" dirty="0" err="1"/>
              <a:t>data:image</a:t>
            </a:r>
            <a:r>
              <a:rPr lang="es-ES_tradnl" noProof="0" dirty="0"/>
              <a:t>/png;...'/&gt;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&lt;/</a:t>
            </a:r>
            <a:r>
              <a:rPr lang="es-ES_tradnl" noProof="0" dirty="0" err="1"/>
              <a:t>section</a:t>
            </a:r>
            <a:r>
              <a:rPr lang="es-ES_tradnl" noProof="0" dirty="0"/>
              <a:t>&gt;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→ Abre en cualquier navegador</a:t>
            </a: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E5C2A841-22AE-17A8-A9E8-4C40498AC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054535" y="0"/>
            <a:ext cx="137160" cy="6858000"/>
          </a:xfrm>
          <a:prstGeom prst="rect">
            <a:avLst/>
          </a:prstGeom>
          <a:solidFill>
            <a:srgbClr val="00F2E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2743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0" b="1">
                <a:solidFill>
                  <a:srgbClr val="FF0050"/>
                </a:solidFill>
              </a:defRPr>
            </a:pPr>
            <a:r>
              <a:rPr lang="es-ES_tradnl" noProof="0" dirty="0"/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286000"/>
            <a:ext cx="73152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rPr lang="es-ES_tradnl" noProof="0" dirty="0">
                <a:solidFill>
                  <a:srgbClr val="080808"/>
                </a:solidFill>
              </a:rPr>
              <a:t>Resultados y Análisis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4389120"/>
            <a:ext cx="7315200" cy="45720"/>
          </a:xfrm>
          <a:prstGeom prst="rect">
            <a:avLst/>
          </a:prstGeom>
          <a:solidFill>
            <a:srgbClr val="00F2E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pic>
        <p:nvPicPr>
          <p:cNvPr id="6" name="Imagen 5" descr="Logotipo&#10;&#10;El contenido generado por IA puede ser incorrecto.">
            <a:extLst>
              <a:ext uri="{FF2B5EF4-FFF2-40B4-BE49-F238E27FC236}">
                <a16:creationId xmlns:a16="http://schemas.microsoft.com/office/drawing/2014/main" id="{C8CF3B76-B5E1-40BB-1724-832CCA2DD7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814633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Gráficos: Análisis real de #adamuz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pic>
        <p:nvPicPr>
          <p:cNvPr id="6" name="Picture 5" descr="adamuz_videos_nube_palabr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5303520" cy="28665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393192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2850"/>
                </a:solidFill>
              </a:defRPr>
            </a:pPr>
            <a:r>
              <a:rPr lang="es-ES_tradnl" noProof="0" dirty="0"/>
              <a:t>Palabras clave</a:t>
            </a:r>
          </a:p>
        </p:txBody>
      </p:sp>
      <p:pic>
        <p:nvPicPr>
          <p:cNvPr id="8" name="Picture 7" descr="adamuz_videos_nube_hashta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463040"/>
            <a:ext cx="5303520" cy="286658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393192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2850"/>
                </a:solidFill>
              </a:defRPr>
            </a:pPr>
            <a:r>
              <a:rPr lang="es-ES_tradnl" noProof="0" dirty="0"/>
              <a:t>Hashtags</a:t>
            </a:r>
          </a:p>
        </p:txBody>
      </p:sp>
      <p:pic>
        <p:nvPicPr>
          <p:cNvPr id="10" name="Picture 9" descr="adamuz_videos_evolucion_vist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114800"/>
            <a:ext cx="5303520" cy="26361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65836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2850"/>
                </a:solidFill>
              </a:defRPr>
            </a:pPr>
            <a:r>
              <a:rPr lang="es-ES_tradnl" noProof="0" dirty="0"/>
              <a:t>Evolución vistas</a:t>
            </a:r>
          </a:p>
        </p:txBody>
      </p:sp>
      <p:pic>
        <p:nvPicPr>
          <p:cNvPr id="12" name="Picture 11" descr="adamuz_videos_heatmap_activid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4114800"/>
            <a:ext cx="5303520" cy="246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92240" y="65836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42850"/>
                </a:solidFill>
              </a:defRPr>
            </a:pPr>
            <a:r>
              <a:rPr lang="es-ES_tradnl" noProof="0" dirty="0"/>
              <a:t>Actividad temporal</a:t>
            </a:r>
          </a:p>
        </p:txBody>
      </p:sp>
      <p:pic>
        <p:nvPicPr>
          <p:cNvPr id="14" name="Imagen 13" descr="Logotipo&#10;&#10;El contenido generado por IA puede ser incorrecto.">
            <a:extLst>
              <a:ext uri="{FF2B5EF4-FFF2-40B4-BE49-F238E27FC236}">
                <a16:creationId xmlns:a16="http://schemas.microsoft.com/office/drawing/2014/main" id="{D4BE5F71-4CA4-C7EE-28A1-44C07CF610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Interpretando los resultados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2130552" y="2159556"/>
            <a:ext cx="3163824" cy="33958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Nube de palabras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Muestra términos más frecuentes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Tamaño = frecuencia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Identifica temas centrales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Evolución de vistas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Tendencia temporal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Épocas de mayor actividad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Impacto de publicaciones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99832" y="2159556"/>
            <a:ext cx="3163824" cy="33958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 err="1"/>
              <a:t>Heatmap</a:t>
            </a:r>
            <a:r>
              <a:rPr lang="es-ES_tradnl" noProof="0" dirty="0"/>
              <a:t xml:space="preserve"> de actividad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Patrón de publicación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Mejor hora para publicar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Día de la semana más activo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Hashtags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Estrategia de etiquetado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Cobertura temática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Oportunidades SEO</a:t>
            </a: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CE2600FC-E38A-F83E-2F1A-9938B35707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Aplicaciones prácticas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2255520" y="2042160"/>
            <a:ext cx="3245104" cy="33958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Marketing &amp; Publicidad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📊 Entender comportamiento público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🎯 Identificar </a:t>
            </a:r>
            <a:r>
              <a:rPr lang="es-ES_tradnl" noProof="0" dirty="0" err="1"/>
              <a:t>influencers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📈 Optimizar estrategia de contenido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⏰ Determinar mejor hora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Investigación Social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🔍 Monitoreo de marca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💬 Análisis de sentimiento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2042160"/>
            <a:ext cx="3245104" cy="33958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Análisis Político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🗳️ Monitoreo de candidatos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📢 Análisis de campañas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💭 Sentimiento público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Académica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📚 Investigación en línea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📊 Análisis de redes sociales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🎓 Datos para tesis</a:t>
            </a: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FB5D6838-8C1D-0D4C-464C-D5FCE2D1F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Problemas comunes y soluciones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747520" y="1463040"/>
            <a:ext cx="3850640" cy="50885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 xml:space="preserve">Problema: </a:t>
            </a:r>
            <a:r>
              <a:rPr lang="es-ES_tradnl" noProof="0" dirty="0" err="1"/>
              <a:t>Anti-bot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detection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❌ Error: 403 </a:t>
            </a:r>
            <a:r>
              <a:rPr lang="es-ES_tradnl" noProof="0" dirty="0" err="1"/>
              <a:t>Forbidden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Solución: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• Añadir </a:t>
            </a:r>
            <a:r>
              <a:rPr lang="es-ES_tradnl" noProof="0" dirty="0" err="1"/>
              <a:t>delays</a:t>
            </a:r>
            <a:r>
              <a:rPr lang="es-ES_tradnl" noProof="0" dirty="0"/>
              <a:t xml:space="preserve"> entre </a:t>
            </a:r>
            <a:r>
              <a:rPr lang="es-ES_tradnl" noProof="0" dirty="0" err="1"/>
              <a:t>requests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• Usar </a:t>
            </a:r>
            <a:r>
              <a:rPr lang="es-ES_tradnl" noProof="0" dirty="0" err="1"/>
              <a:t>rotating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proxies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• Cambiar </a:t>
            </a:r>
            <a:r>
              <a:rPr lang="es-ES_tradnl" noProof="0" dirty="0" err="1"/>
              <a:t>user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agent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• Ejecutar en </a:t>
            </a:r>
            <a:r>
              <a:rPr lang="es-ES_tradnl" noProof="0" dirty="0" err="1"/>
              <a:t>headless</a:t>
            </a:r>
            <a:r>
              <a:rPr lang="es-ES_tradnl" noProof="0" dirty="0"/>
              <a:t>=False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Problema: Cookies expiradas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❌ Sesión no válida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Solución: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Ejecutar 1-guardar_sesion.py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• </a:t>
            </a:r>
            <a:r>
              <a:rPr lang="es-ES_tradnl" noProof="0" dirty="0" err="1"/>
              <a:t>Re-autenticarse</a:t>
            </a:r>
            <a:endParaRPr lang="es-ES_tradn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7416800" y="1463040"/>
            <a:ext cx="3850640" cy="5370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 xml:space="preserve">Problema: API </a:t>
            </a:r>
            <a:r>
              <a:rPr lang="es-ES_tradnl" noProof="0" dirty="0" err="1"/>
              <a:t>Groq</a:t>
            </a:r>
            <a:r>
              <a:rPr lang="es-ES_tradnl" noProof="0" dirty="0"/>
              <a:t xml:space="preserve"> lenta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❌ </a:t>
            </a:r>
            <a:r>
              <a:rPr lang="es-ES_tradnl" noProof="0" dirty="0" err="1"/>
              <a:t>Timeout</a:t>
            </a:r>
            <a:r>
              <a:rPr lang="es-ES_tradnl" noProof="0" dirty="0"/>
              <a:t xml:space="preserve"> en análisis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Solución: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• Usar </a:t>
            </a:r>
            <a:r>
              <a:rPr lang="es-ES_tradnl" noProof="0" dirty="0" err="1"/>
              <a:t>batch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processing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• Aumentar </a:t>
            </a:r>
            <a:r>
              <a:rPr lang="es-ES_tradnl" noProof="0" dirty="0" err="1"/>
              <a:t>timeout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Usar modelo más rápido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Cache de resultados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Problema: Memoria insuficiente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❌ </a:t>
            </a:r>
            <a:r>
              <a:rPr lang="es-ES_tradnl" noProof="0" dirty="0" err="1"/>
              <a:t>Crash</a:t>
            </a:r>
            <a:r>
              <a:rPr lang="es-ES_tradnl" noProof="0" dirty="0"/>
              <a:t xml:space="preserve"> al procesar </a:t>
            </a:r>
            <a:r>
              <a:rPr lang="es-ES_tradnl" noProof="0" dirty="0" err="1"/>
              <a:t>CSVs</a:t>
            </a:r>
            <a:r>
              <a:rPr lang="es-ES_tradnl" noProof="0" dirty="0"/>
              <a:t xml:space="preserve"> grandes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Solución: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• Procesar en </a:t>
            </a:r>
            <a:r>
              <a:rPr lang="es-ES_tradnl" noProof="0" dirty="0" err="1"/>
              <a:t>chunks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Usar '</a:t>
            </a:r>
            <a:r>
              <a:rPr lang="es-ES_tradnl" noProof="0" dirty="0" err="1"/>
              <a:t>chunksize</a:t>
            </a:r>
            <a:r>
              <a:rPr lang="es-ES_tradnl" noProof="0" dirty="0"/>
              <a:t>' en pandas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• Eliminar columnas innecesarias</a:t>
            </a: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D98B1BA3-C252-9583-0BCF-8F6D6B7B58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Mejoras y extensiones futuras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2259686" y="2007771"/>
            <a:ext cx="3007360" cy="3677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Corto plazo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⚡ Paralelizar </a:t>
            </a:r>
            <a:r>
              <a:rPr lang="es-ES_tradnl" noProof="0" dirty="0" err="1"/>
              <a:t>scraping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🔄 Resumir desde </a:t>
            </a:r>
            <a:r>
              <a:rPr lang="es-ES_tradnl" noProof="0" dirty="0" err="1"/>
              <a:t>checkpoints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🗂️ Base de datos (SQLite)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🔐 Encriptar cookies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Escalabilidad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☁️ Desplegar en </a:t>
            </a:r>
            <a:r>
              <a:rPr lang="es-ES_tradnl" noProof="0" dirty="0" err="1"/>
              <a:t>cloud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🔀 Procesamiento distribuido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📦 Docker </a:t>
            </a:r>
            <a:r>
              <a:rPr lang="es-ES_tradnl" noProof="0" dirty="0" err="1"/>
              <a:t>containerizar</a:t>
            </a:r>
            <a:endParaRPr lang="es-ES_tradn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7928966" y="2007771"/>
            <a:ext cx="3007360" cy="3960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Largo plazo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🤖 Detectar cuentas coordinadas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📡 </a:t>
            </a:r>
            <a:r>
              <a:rPr lang="es-ES_tradnl" noProof="0" dirty="0" err="1"/>
              <a:t>Dashboard</a:t>
            </a:r>
            <a:r>
              <a:rPr lang="es-ES_tradnl" noProof="0" dirty="0"/>
              <a:t xml:space="preserve"> en tiempo real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🌐 API REST pública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👥 Análisis de </a:t>
            </a:r>
            <a:r>
              <a:rPr lang="es-ES_tradnl" noProof="0" dirty="0" err="1"/>
              <a:t>influencers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📊 Exportar a bases de datos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Investigación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🧠 Modelos </a:t>
            </a:r>
            <a:r>
              <a:rPr lang="es-ES_tradnl" noProof="0" dirty="0" err="1"/>
              <a:t>custom</a:t>
            </a:r>
            <a:r>
              <a:rPr lang="es-ES_tradnl" noProof="0" dirty="0"/>
              <a:t xml:space="preserve"> de IA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📉 Predicción de tendencias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🕸️ Análisis de grafos avanzado</a:t>
            </a: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A027FC6C-0DCB-F03D-7807-790201E0D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Limitaciones y consideraciones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2194560" y="2159556"/>
            <a:ext cx="3464560" cy="3677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Técnicas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⏱️ </a:t>
            </a:r>
            <a:r>
              <a:rPr lang="es-ES_tradnl" noProof="0" dirty="0" err="1"/>
              <a:t>Scraping</a:t>
            </a:r>
            <a:r>
              <a:rPr lang="es-ES_tradnl" noProof="0" dirty="0"/>
              <a:t xml:space="preserve"> es lento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🔒 </a:t>
            </a:r>
            <a:r>
              <a:rPr lang="es-ES_tradnl" noProof="0" dirty="0" err="1"/>
              <a:t>Anti-bot</a:t>
            </a:r>
            <a:r>
              <a:rPr lang="es-ES_tradnl" noProof="0" dirty="0"/>
              <a:t xml:space="preserve"> muy activo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📱 UX móvil diferente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🔄 Datos cambian rápidamente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 xml:space="preserve">API </a:t>
            </a:r>
            <a:r>
              <a:rPr lang="es-ES_tradnl" noProof="0" dirty="0" err="1"/>
              <a:t>Groq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💰 Costo por </a:t>
            </a:r>
            <a:r>
              <a:rPr lang="es-ES_tradnl" noProof="0" dirty="0" err="1"/>
              <a:t>request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⏸️ </a:t>
            </a:r>
            <a:r>
              <a:rPr lang="es-ES_tradnl" noProof="0" dirty="0" err="1"/>
              <a:t>Rate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limits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⚠️ Puede interpretación incorrecta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159556"/>
            <a:ext cx="3464560" cy="3677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Legales y Éticas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⚖️ Revisar </a:t>
            </a:r>
            <a:r>
              <a:rPr lang="es-ES_tradnl" noProof="0" dirty="0" err="1"/>
              <a:t>ToS</a:t>
            </a:r>
            <a:r>
              <a:rPr lang="es-ES_tradnl" noProof="0" dirty="0"/>
              <a:t xml:space="preserve"> de TikTok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🔒 Privacidad de usuarios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📋 GDPR </a:t>
            </a:r>
            <a:r>
              <a:rPr lang="es-ES_tradnl" noProof="0" dirty="0" err="1"/>
              <a:t>compliance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🤝 Responsabilidad social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Datos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🎲 Sesgos en sentimientos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📊 Representatividad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❌ Spam y bots</a:t>
            </a: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22DD6142-D605-6BA7-1BF9-9B5A4EE56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Arquitectura completa del sistema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3307080" y="1506220"/>
            <a:ext cx="6943446" cy="466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sz="1100" noProof="0" dirty="0"/>
          </a:p>
          <a:p>
            <a:pPr>
              <a:spcBef>
                <a:spcPts val="1200"/>
              </a:spcBef>
              <a:spcAft>
                <a:spcPts val="800"/>
              </a:spcAft>
              <a:defRPr sz="2200" b="1">
                <a:solidFill>
                  <a:srgbClr val="FF0050"/>
                </a:solidFill>
              </a:defRPr>
            </a:pPr>
            <a:r>
              <a:rPr lang="es-ES_tradnl" sz="2400" noProof="0" dirty="0"/>
              <a:t>CAPA 1: EXTRACCIÓN (</a:t>
            </a:r>
            <a:r>
              <a:rPr lang="es-ES_tradnl" sz="2400" noProof="0" dirty="0" err="1"/>
              <a:t>Playwright</a:t>
            </a:r>
            <a:r>
              <a:rPr lang="es-ES_tradnl" sz="2400" noProof="0" dirty="0"/>
              <a:t>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sz="1050" noProof="0" dirty="0"/>
              <a:t xml:space="preserve">TikTok → Navegador Automatizado → Interceptación de </a:t>
            </a:r>
            <a:r>
              <a:rPr lang="es-ES_tradnl" sz="1050" noProof="0" dirty="0" err="1"/>
              <a:t>APIs</a:t>
            </a:r>
            <a:endParaRPr lang="es-ES_tradnl" sz="1050" noProof="0" dirty="0"/>
          </a:p>
          <a:p>
            <a:pPr>
              <a:spcBef>
                <a:spcPts val="1200"/>
              </a:spcBef>
              <a:spcAft>
                <a:spcPts val="800"/>
              </a:spcAft>
              <a:defRPr sz="2200" b="1">
                <a:solidFill>
                  <a:srgbClr val="FF0050"/>
                </a:solidFill>
              </a:defRPr>
            </a:pPr>
            <a:r>
              <a:rPr lang="es-ES_tradnl" sz="2400" noProof="0" dirty="0"/>
              <a:t xml:space="preserve">CAPA 2: ALMACENAMIENTO (File </a:t>
            </a:r>
            <a:r>
              <a:rPr lang="es-ES_tradnl" sz="2400" noProof="0" dirty="0" err="1"/>
              <a:t>System</a:t>
            </a:r>
            <a:r>
              <a:rPr lang="es-ES_tradnl" sz="2400" noProof="0" dirty="0"/>
              <a:t>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sz="1050" noProof="0" dirty="0"/>
              <a:t xml:space="preserve">CSV Videos | CSV Comentarios | </a:t>
            </a:r>
            <a:r>
              <a:rPr lang="es-ES_tradnl" sz="1050" noProof="0" dirty="0" err="1"/>
              <a:t>Checkpoints</a:t>
            </a:r>
            <a:r>
              <a:rPr lang="es-ES_tradnl" sz="1050" noProof="0" dirty="0"/>
              <a:t xml:space="preserve"> JSON | </a:t>
            </a:r>
            <a:r>
              <a:rPr lang="es-ES_tradnl" sz="1050" noProof="0" dirty="0" err="1"/>
              <a:t>Config</a:t>
            </a:r>
            <a:r>
              <a:rPr lang="es-ES_tradnl" sz="1050" noProof="0" dirty="0"/>
              <a:t xml:space="preserve"> .</a:t>
            </a:r>
            <a:r>
              <a:rPr lang="es-ES_tradnl" sz="1050" noProof="0" dirty="0" err="1"/>
              <a:t>env</a:t>
            </a:r>
            <a:endParaRPr lang="es-ES_tradnl" sz="1050" noProof="0" dirty="0"/>
          </a:p>
          <a:p>
            <a:pPr>
              <a:spcBef>
                <a:spcPts val="1200"/>
              </a:spcBef>
              <a:spcAft>
                <a:spcPts val="800"/>
              </a:spcAft>
              <a:defRPr sz="2200" b="1">
                <a:solidFill>
                  <a:srgbClr val="FF0050"/>
                </a:solidFill>
              </a:defRPr>
            </a:pPr>
            <a:r>
              <a:rPr lang="es-ES_tradnl" sz="2400" noProof="0" dirty="0"/>
              <a:t xml:space="preserve">CAPA 3: PROCESAMIENTO (Pandas + </a:t>
            </a:r>
            <a:r>
              <a:rPr lang="es-ES_tradnl" sz="2400" noProof="0" dirty="0" err="1"/>
              <a:t>Groq</a:t>
            </a:r>
            <a:r>
              <a:rPr lang="es-ES_tradnl" sz="2400" noProof="0" dirty="0"/>
              <a:t>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sz="1050" noProof="0" dirty="0"/>
              <a:t>Limpieza → Análisis Estadístico → Sentimientos IA → Enriquecimiento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200" b="1">
                <a:solidFill>
                  <a:srgbClr val="FF0050"/>
                </a:solidFill>
              </a:defRPr>
            </a:pPr>
            <a:r>
              <a:rPr lang="es-ES_tradnl" sz="2400" noProof="0" dirty="0"/>
              <a:t>CAPA 4: VISUALIZACIÓN (</a:t>
            </a:r>
            <a:r>
              <a:rPr lang="es-ES_tradnl" sz="2400" noProof="0" dirty="0" err="1"/>
              <a:t>Matplotlib</a:t>
            </a:r>
            <a:r>
              <a:rPr lang="es-ES_tradnl" sz="2400" noProof="0" dirty="0"/>
              <a:t xml:space="preserve"> + </a:t>
            </a:r>
            <a:r>
              <a:rPr lang="es-ES_tradnl" sz="2400" noProof="0" dirty="0" err="1"/>
              <a:t>Seaborn</a:t>
            </a:r>
            <a:r>
              <a:rPr lang="es-ES_tradnl" sz="2400" noProof="0" dirty="0"/>
              <a:t>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sz="1050" noProof="0" dirty="0"/>
              <a:t xml:space="preserve">Gráficas PNG | </a:t>
            </a:r>
            <a:r>
              <a:rPr lang="es-ES_tradnl" sz="1050" noProof="0" dirty="0" err="1"/>
              <a:t>WordClouds</a:t>
            </a:r>
            <a:r>
              <a:rPr lang="es-ES_tradnl" sz="1050" noProof="0" dirty="0"/>
              <a:t xml:space="preserve"> | </a:t>
            </a:r>
            <a:r>
              <a:rPr lang="es-ES_tradnl" sz="1050" noProof="0" dirty="0" err="1"/>
              <a:t>Heatmaps</a:t>
            </a:r>
            <a:r>
              <a:rPr lang="es-ES_tradnl" sz="1050" noProof="0" dirty="0"/>
              <a:t xml:space="preserve"> | Estadísticas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200" b="1">
                <a:solidFill>
                  <a:srgbClr val="FF0050"/>
                </a:solidFill>
              </a:defRPr>
            </a:pPr>
            <a:r>
              <a:rPr lang="es-ES_tradnl" sz="2400" noProof="0" dirty="0"/>
              <a:t>CAPA 5: PRESENTACIÓN (HTML)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sz="1050" noProof="0" dirty="0"/>
              <a:t xml:space="preserve">Informe Interactivo Offline | </a:t>
            </a:r>
            <a:r>
              <a:rPr lang="es-ES_tradnl" sz="1050" noProof="0" dirty="0" err="1"/>
              <a:t>Dashboard</a:t>
            </a:r>
            <a:r>
              <a:rPr lang="es-ES_tradnl" sz="1050" noProof="0" dirty="0"/>
              <a:t xml:space="preserve"> de </a:t>
            </a:r>
            <a:r>
              <a:rPr lang="es-ES_tradnl" sz="1050" noProof="0" dirty="0" err="1"/>
              <a:t>KPIs</a:t>
            </a:r>
            <a:r>
              <a:rPr lang="es-ES_tradnl" sz="1050" noProof="0" dirty="0"/>
              <a:t xml:space="preserve"> | Reportes</a:t>
            </a:r>
          </a:p>
        </p:txBody>
      </p:sp>
      <p:pic>
        <p:nvPicPr>
          <p:cNvPr id="7" name="Imagen 6" descr="Logotipo&#10;&#10;El contenido generado por IA puede ser incorrecto.">
            <a:extLst>
              <a:ext uri="{FF2B5EF4-FFF2-40B4-BE49-F238E27FC236}">
                <a16:creationId xmlns:a16="http://schemas.microsoft.com/office/drawing/2014/main" id="{5936ED80-DD06-FE53-B9D3-CED858003C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Requisitos y dependencias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4170680" y="1366520"/>
            <a:ext cx="3850640" cy="5120640"/>
          </a:xfrm>
          <a:prstGeom prst="roundRect">
            <a:avLst/>
          </a:prstGeom>
          <a:solidFill>
            <a:srgbClr val="191928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4353560" y="1549400"/>
            <a:ext cx="3352800" cy="4193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# requirements.txt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playwright</a:t>
            </a:r>
            <a:r>
              <a:rPr lang="es-ES_tradnl" noProof="0" dirty="0"/>
              <a:t>==1.57.0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pandas==3.0.0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numpy</a:t>
            </a:r>
            <a:r>
              <a:rPr lang="es-ES_tradnl" noProof="0" dirty="0"/>
              <a:t>==2.4.1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matplotlib</a:t>
            </a:r>
            <a:r>
              <a:rPr lang="es-ES_tradnl" noProof="0" dirty="0"/>
              <a:t>==3.10.8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seaborn</a:t>
            </a:r>
            <a:r>
              <a:rPr lang="es-ES_tradnl" noProof="0" dirty="0"/>
              <a:t>==0.13.2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wordcloud</a:t>
            </a:r>
            <a:r>
              <a:rPr lang="es-ES_tradnl" noProof="0" dirty="0"/>
              <a:t>==1.9.5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google-genai</a:t>
            </a: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nltk</a:t>
            </a:r>
            <a:r>
              <a:rPr lang="es-ES_tradnl" noProof="0" dirty="0"/>
              <a:t>==3.9.1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requests</a:t>
            </a:r>
            <a:r>
              <a:rPr lang="es-ES_tradnl" noProof="0" dirty="0"/>
              <a:t>==2.32.5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 err="1"/>
              <a:t>python-dotenv</a:t>
            </a:r>
            <a:r>
              <a:rPr lang="es-ES_tradnl" noProof="0" dirty="0"/>
              <a:t>==1.2.1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endParaRPr lang="es-ES_tradnl" noProof="0" dirty="0"/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# Requisitos del sistema: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# Python 3.8+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# 4GB RAM mínimo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># Conexión a internet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300">
                <a:solidFill>
                  <a:srgbClr val="00F2EA"/>
                </a:solidFill>
                <a:latin typeface="Consolas"/>
              </a:defRPr>
            </a:pPr>
            <a:r>
              <a:rPr lang="es-ES_tradnl" noProof="0" dirty="0"/>
              <a:t xml:space="preserve"># Clave API </a:t>
            </a:r>
            <a:r>
              <a:rPr lang="es-ES_tradnl" noProof="0" dirty="0" err="1"/>
              <a:t>Groq</a:t>
            </a:r>
            <a:endParaRPr lang="es-ES_tradnl" noProof="0" dirty="0"/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E4695D2A-65E2-80D1-0338-7922479F0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Demo: Paso a paso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4541520" y="1463040"/>
            <a:ext cx="4248912" cy="5216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800"/>
              </a:spcAft>
              <a:defRPr sz="2200" b="1">
                <a:solidFill>
                  <a:srgbClr val="FF0050"/>
                </a:solidFill>
              </a:defRPr>
            </a:pPr>
            <a:r>
              <a:rPr lang="es-ES_tradnl" sz="2000" noProof="0" dirty="0"/>
              <a:t>1. INSTALACIÓN (5 min)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sz="800" noProof="0" dirty="0" err="1"/>
              <a:t>pip</a:t>
            </a:r>
            <a:r>
              <a:rPr lang="es-ES_tradnl" sz="800" noProof="0" dirty="0"/>
              <a:t xml:space="preserve"> </a:t>
            </a:r>
            <a:r>
              <a:rPr lang="es-ES_tradnl" sz="800" noProof="0" dirty="0" err="1"/>
              <a:t>install</a:t>
            </a:r>
            <a:r>
              <a:rPr lang="es-ES_tradnl" sz="800" noProof="0" dirty="0"/>
              <a:t xml:space="preserve"> -r requirements.txt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sz="800" noProof="0" dirty="0" err="1"/>
              <a:t>playwright</a:t>
            </a:r>
            <a:r>
              <a:rPr lang="es-ES_tradnl" sz="800" noProof="0" dirty="0"/>
              <a:t xml:space="preserve"> </a:t>
            </a:r>
            <a:r>
              <a:rPr lang="es-ES_tradnl" sz="800" noProof="0" dirty="0" err="1"/>
              <a:t>install</a:t>
            </a:r>
            <a:r>
              <a:rPr lang="es-ES_tradnl" sz="800" noProof="0" dirty="0"/>
              <a:t xml:space="preserve"> </a:t>
            </a:r>
            <a:r>
              <a:rPr lang="es-ES_tradnl" sz="800" noProof="0" dirty="0" err="1"/>
              <a:t>chromium</a:t>
            </a:r>
            <a:endParaRPr lang="es-ES_tradnl" sz="800" noProof="0" dirty="0"/>
          </a:p>
          <a:p>
            <a:pPr>
              <a:spcBef>
                <a:spcPts val="1200"/>
              </a:spcBef>
              <a:spcAft>
                <a:spcPts val="800"/>
              </a:spcAft>
              <a:defRPr sz="2200" b="1">
                <a:solidFill>
                  <a:srgbClr val="FF0050"/>
                </a:solidFill>
              </a:defRPr>
            </a:pPr>
            <a:r>
              <a:rPr lang="es-ES_tradnl" sz="2000" noProof="0" dirty="0"/>
              <a:t>2. AUTENTICACIÓN (2 min)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sz="800" noProof="0" dirty="0" err="1"/>
              <a:t>python</a:t>
            </a:r>
            <a:r>
              <a:rPr lang="es-ES_tradnl" sz="800" noProof="0" dirty="0"/>
              <a:t xml:space="preserve"> src/scrapers/1-guardar_sesion.py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sz="800" noProof="0" dirty="0"/>
              <a:t>→ Iniciar sesión manualmente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200" b="1">
                <a:solidFill>
                  <a:srgbClr val="FF0050"/>
                </a:solidFill>
              </a:defRPr>
            </a:pPr>
            <a:r>
              <a:rPr lang="es-ES_tradnl" sz="2000" noProof="0" dirty="0"/>
              <a:t>3. SCRAPING (10-20 min)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sz="800" noProof="0" dirty="0" err="1"/>
              <a:t>python</a:t>
            </a:r>
            <a:r>
              <a:rPr lang="es-ES_tradnl" sz="800" noProof="0" dirty="0"/>
              <a:t xml:space="preserve"> src/scrapers/1_tiktok_scraper_user.py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sz="800" noProof="0" dirty="0"/>
              <a:t>→ Extrae ~100 videos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200" b="1">
                <a:solidFill>
                  <a:srgbClr val="FF0050"/>
                </a:solidFill>
              </a:defRPr>
            </a:pPr>
            <a:r>
              <a:rPr lang="es-ES_tradnl" sz="2000" noProof="0" dirty="0"/>
              <a:t>4. ANÁLISIS (5-10 min)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sz="800" noProof="0" dirty="0" err="1"/>
              <a:t>python</a:t>
            </a:r>
            <a:r>
              <a:rPr lang="es-ES_tradnl" sz="800" noProof="0" dirty="0"/>
              <a:t xml:space="preserve"> src/analysis/analizar_sentimiento_gemini.py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sz="800" noProof="0" dirty="0"/>
              <a:t>→ Procesa sentimientos con IA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200" b="1">
                <a:solidFill>
                  <a:srgbClr val="FF0050"/>
                </a:solidFill>
              </a:defRPr>
            </a:pPr>
            <a:r>
              <a:rPr lang="es-ES_tradnl" sz="2000" noProof="0" dirty="0"/>
              <a:t>5. VISUALIZACIÓN (2 min)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sz="800" noProof="0" dirty="0" err="1"/>
              <a:t>python</a:t>
            </a:r>
            <a:r>
              <a:rPr lang="es-ES_tradnl" sz="800" noProof="0" dirty="0"/>
              <a:t xml:space="preserve"> src/visualization/generar_informe_html.py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sz="800" noProof="0" dirty="0"/>
              <a:t>→ Crea informe HTML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200" b="1">
                <a:solidFill>
                  <a:srgbClr val="FF0050"/>
                </a:solidFill>
              </a:defRPr>
            </a:pPr>
            <a:r>
              <a:rPr lang="es-ES_tradnl" sz="2000" noProof="0" dirty="0"/>
              <a:t>6. EXPLORAR RESULTADOS (5 min)</a:t>
            </a:r>
          </a:p>
          <a:p>
            <a:pPr lvl="1"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sz="800" noProof="0" dirty="0"/>
              <a:t>open outputs/usuario/informe.html</a:t>
            </a:r>
          </a:p>
        </p:txBody>
      </p:sp>
      <p:pic>
        <p:nvPicPr>
          <p:cNvPr id="7" name="Imagen 6" descr="Logotipo&#10;&#10;El contenido generado por IA puede ser incorrecto.">
            <a:extLst>
              <a:ext uri="{FF2B5EF4-FFF2-40B4-BE49-F238E27FC236}">
                <a16:creationId xmlns:a16="http://schemas.microsoft.com/office/drawing/2014/main" id="{91DBA98F-78C3-6038-8FBB-F528BB3025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Impacto: Análisis manual vs Automatizado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859280" y="2174240"/>
            <a:ext cx="3212592" cy="2857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❌ Método Manual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⏰ Tiempo: SEMANAS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👤 Personal: 5+ personas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💰 Costo: ALTO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📊 Escalabilidad: MALA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🎲 Errores: MUCHOS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📈 Frecuencia: BAJA (mensual)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28560" y="2174240"/>
            <a:ext cx="3212592" cy="2857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✅ Método Automatizado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⏰ Tiempo: HORAS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👤 Personal: 1 programador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💰 Costo: BAJO (solo API)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📊 Escalabilidad: EXCELENTE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🎲 Errores: MÍNIMOS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📈 Frecuencia: DIARIA (</a:t>
            </a:r>
            <a:r>
              <a:rPr lang="es-ES_tradnl" noProof="0" dirty="0" err="1"/>
              <a:t>scheduled</a:t>
            </a:r>
            <a:r>
              <a:rPr lang="es-ES_tradnl" noProof="0" dirty="0"/>
              <a:t>)</a:t>
            </a: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4E97154F-2149-BF2F-13AD-AE901871B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Métricas de éxito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2044065" y="1842330"/>
            <a:ext cx="3351276" cy="3677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Técnicas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Tasa de extracción: 95%+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Tiempo de ejecución: &lt;1h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Precisión sentimientos: 85%+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Disponibilidad: 99%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Negocio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ROI positivo en mes 1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Adopción: 10+ usuarios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Satisfacción: 4.5/5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3345" y="1842330"/>
            <a:ext cx="3351276" cy="3677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Datos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&gt;1M registros procesados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5+ cuentas analizadas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Latencia: &lt;5min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Impacto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Decisiones data-</a:t>
            </a:r>
            <a:r>
              <a:rPr lang="es-ES_tradnl" noProof="0" dirty="0" err="1"/>
              <a:t>driven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✅ </a:t>
            </a:r>
            <a:r>
              <a:rPr lang="es-ES_tradnl" noProof="0" dirty="0" err="1"/>
              <a:t>Insight</a:t>
            </a:r>
            <a:r>
              <a:rPr lang="es-ES_tradnl" noProof="0" dirty="0"/>
              <a:t xml:space="preserve"> de tendencias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✅ Publicaciones optimizadas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✅ </a:t>
            </a:r>
            <a:r>
              <a:rPr lang="es-ES_tradnl" noProof="0" dirty="0" err="1"/>
              <a:t>Engagement</a:t>
            </a:r>
            <a:r>
              <a:rPr lang="es-ES_tradnl" noProof="0" dirty="0"/>
              <a:t xml:space="preserve"> mejorado</a:t>
            </a: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6154315F-7BBD-7C59-8EE4-54A384D39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054535" y="0"/>
            <a:ext cx="137160" cy="6858000"/>
          </a:xfrm>
          <a:prstGeom prst="rect">
            <a:avLst/>
          </a:prstGeom>
          <a:solidFill>
            <a:srgbClr val="00F2E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2743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0" b="1">
                <a:solidFill>
                  <a:srgbClr val="FF0050"/>
                </a:solidFill>
              </a:defRPr>
            </a:pPr>
            <a:r>
              <a:rPr lang="es-ES_tradnl" noProof="0" dirty="0"/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286000"/>
            <a:ext cx="73152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rPr lang="es-ES_tradnl" noProof="0" dirty="0">
                <a:solidFill>
                  <a:srgbClr val="080808"/>
                </a:solidFill>
              </a:rPr>
              <a:t>Conclusiones y Q&amp;A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4389120"/>
            <a:ext cx="7315200" cy="45720"/>
          </a:xfrm>
          <a:prstGeom prst="rect">
            <a:avLst/>
          </a:prstGeom>
          <a:solidFill>
            <a:srgbClr val="00F2E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pic>
        <p:nvPicPr>
          <p:cNvPr id="6" name="Imagen 5" descr="Logotipo&#10;&#10;El contenido generado por IA puede ser incorrecto.">
            <a:extLst>
              <a:ext uri="{FF2B5EF4-FFF2-40B4-BE49-F238E27FC236}">
                <a16:creationId xmlns:a16="http://schemas.microsoft.com/office/drawing/2014/main" id="{7848D3A3-9F13-072A-B79F-B26C6FF7A8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Resumen: Lo aprendido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019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800"/>
              </a:spcAft>
              <a:defRPr sz="2200" b="1">
                <a:solidFill>
                  <a:srgbClr val="FF0050"/>
                </a:solidFill>
              </a:defRPr>
            </a:pPr>
            <a:r>
              <a:rPr lang="es-ES_tradnl" noProof="0" dirty="0"/>
              <a:t>🎯 CONCEPTOS CLAVE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✅ Web </a:t>
            </a:r>
            <a:r>
              <a:rPr lang="es-ES_tradnl" noProof="0" dirty="0" err="1"/>
              <a:t>scraping</a:t>
            </a:r>
            <a:r>
              <a:rPr lang="es-ES_tradnl" noProof="0" dirty="0"/>
              <a:t>: qué es, técnicas, consideraciones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✅ Automatización de navegador con </a:t>
            </a:r>
            <a:r>
              <a:rPr lang="es-ES_tradnl" noProof="0" dirty="0" err="1"/>
              <a:t>Playwright</a:t>
            </a:r>
            <a:endParaRPr lang="es-ES_tradnl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noProof="0" dirty="0"/>
              <a:t>✅ Procesamiento de datos con Pandas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noProof="0" dirty="0"/>
              <a:t>✅ IA para análisis de sentimientos (</a:t>
            </a:r>
            <a:r>
              <a:rPr lang="es-ES_tradnl" noProof="0" dirty="0" err="1"/>
              <a:t>Groq</a:t>
            </a:r>
            <a:r>
              <a:rPr lang="es-ES_tradnl" noProof="0" dirty="0"/>
              <a:t>)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✅ Visualización con </a:t>
            </a:r>
            <a:r>
              <a:rPr lang="es-ES_tradnl" noProof="0" dirty="0" err="1"/>
              <a:t>Matplotlib</a:t>
            </a:r>
            <a:r>
              <a:rPr lang="es-ES_tradnl" noProof="0" dirty="0"/>
              <a:t>/</a:t>
            </a:r>
            <a:r>
              <a:rPr lang="es-ES_tradnl" noProof="0" dirty="0" err="1"/>
              <a:t>Seaborn</a:t>
            </a:r>
            <a:endParaRPr lang="es-ES_tradnl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800"/>
              </a:spcAft>
              <a:defRPr sz="2200" b="1">
                <a:solidFill>
                  <a:srgbClr val="FF0050"/>
                </a:solidFill>
              </a:defRPr>
            </a:pPr>
            <a:r>
              <a:rPr lang="es-ES_tradnl" noProof="0" dirty="0"/>
              <a:t>💡 APLICACIONES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noProof="0" dirty="0"/>
              <a:t>✅ Marketing: entender público objetivo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noProof="0" dirty="0"/>
              <a:t>✅ Investigación: análisis de datos públicos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noProof="0" dirty="0"/>
              <a:t>✅ Negocio: inteligencia competitiva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endParaRPr lang="es-ES_tradnl" noProof="0" dirty="0"/>
          </a:p>
        </p:txBody>
      </p:sp>
      <p:pic>
        <p:nvPicPr>
          <p:cNvPr id="7" name="Imagen 6" descr="Logotipo&#10;&#10;El contenido generado por IA puede ser incorrecto.">
            <a:extLst>
              <a:ext uri="{FF2B5EF4-FFF2-40B4-BE49-F238E27FC236}">
                <a16:creationId xmlns:a16="http://schemas.microsoft.com/office/drawing/2014/main" id="{493E7A2A-9EE2-1583-5D84-160240E6A4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01D190F2-0953-D7D6-CB18-D53B49659058}"/>
              </a:ext>
            </a:extLst>
          </p:cNvPr>
          <p:cNvSpPr txBox="1"/>
          <p:nvPr/>
        </p:nvSpPr>
        <p:spPr>
          <a:xfrm>
            <a:off x="5855890" y="2813218"/>
            <a:ext cx="6151880" cy="2328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800"/>
              </a:spcAft>
              <a:defRPr sz="2200" b="1">
                <a:solidFill>
                  <a:srgbClr val="FF0050"/>
                </a:solidFill>
              </a:defRPr>
            </a:pPr>
            <a:r>
              <a:rPr lang="es-ES_tradnl" noProof="0" dirty="0"/>
              <a:t>🚀 PRÓXIMOS PASOS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noProof="0" dirty="0"/>
              <a:t>✅ Clonar repositorio: github.com/</a:t>
            </a:r>
            <a:r>
              <a:rPr lang="es-ES_tradnl" noProof="0" dirty="0" err="1"/>
              <a:t>barripdmx</a:t>
            </a:r>
            <a:r>
              <a:rPr lang="es-ES_tradnl" noProof="0" dirty="0"/>
              <a:t>/</a:t>
            </a:r>
            <a:r>
              <a:rPr lang="es-ES_tradnl" noProof="0" dirty="0" err="1"/>
              <a:t>tiktok-scraper</a:t>
            </a:r>
            <a:endParaRPr lang="es-ES_tradnl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noProof="0" dirty="0"/>
              <a:t>✅ Seguir documentación en /</a:t>
            </a:r>
            <a:r>
              <a:rPr lang="es-ES_tradnl" noProof="0" dirty="0" err="1"/>
              <a:t>docs</a:t>
            </a:r>
            <a:endParaRPr lang="es-ES_tradnl" noProof="0" dirty="0"/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noProof="0" dirty="0"/>
              <a:t>✅ Experimentar con otros usuarios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6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✅ Compartir mejoras y </a:t>
            </a:r>
            <a:r>
              <a:rPr lang="es-ES_tradnl" noProof="0" dirty="0" err="1"/>
              <a:t>feedback</a:t>
            </a:r>
            <a:endParaRPr lang="es-ES_tradnl" noProof="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Recursos y referencias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2103120" y="1463040"/>
            <a:ext cx="2706624" cy="3985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Documentación oficial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📚 </a:t>
            </a:r>
            <a:r>
              <a:rPr lang="es-ES_tradnl" noProof="0" dirty="0" err="1"/>
              <a:t>Playwright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docs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   </a:t>
            </a:r>
            <a:r>
              <a:rPr lang="es-ES_tradnl" noProof="0" dirty="0" err="1"/>
              <a:t>playwright.dev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📚 Pandas </a:t>
            </a:r>
            <a:r>
              <a:rPr lang="es-ES_tradnl" noProof="0" dirty="0" err="1"/>
              <a:t>documentation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   pandas.pydata.org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📚 </a:t>
            </a:r>
            <a:r>
              <a:rPr lang="es-ES_tradnl" noProof="0" dirty="0" err="1"/>
              <a:t>Groq</a:t>
            </a:r>
            <a:r>
              <a:rPr lang="es-ES_tradnl" noProof="0" dirty="0"/>
              <a:t xml:space="preserve"> API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   </a:t>
            </a:r>
            <a:r>
              <a:rPr lang="es-ES_tradnl" noProof="0" dirty="0" err="1"/>
              <a:t>ai.google.dev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📚 </a:t>
            </a:r>
            <a:r>
              <a:rPr lang="es-ES_tradnl" noProof="0" dirty="0" err="1"/>
              <a:t>Matplotlib</a:t>
            </a:r>
            <a:r>
              <a:rPr lang="es-ES_tradnl" noProof="0" dirty="0"/>
              <a:t xml:space="preserve"> guide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   matplotlib.org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82256" y="1463040"/>
            <a:ext cx="2706624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Nuestro proyecto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🔗 GitHub: </a:t>
            </a:r>
            <a:r>
              <a:rPr lang="es-ES_tradnl" noProof="0" dirty="0" err="1"/>
              <a:t>barripdmx</a:t>
            </a:r>
            <a:r>
              <a:rPr lang="es-ES_tradnl" noProof="0" dirty="0"/>
              <a:t>/</a:t>
            </a:r>
            <a:r>
              <a:rPr lang="es-ES_tradnl" noProof="0" dirty="0" err="1"/>
              <a:t>tiktok-scraper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📖 </a:t>
            </a:r>
            <a:r>
              <a:rPr lang="es-ES_tradnl" noProof="0" dirty="0" err="1"/>
              <a:t>Docs</a:t>
            </a:r>
            <a:r>
              <a:rPr lang="es-ES_tradnl" noProof="0" dirty="0"/>
              <a:t>: /</a:t>
            </a:r>
            <a:r>
              <a:rPr lang="es-ES_tradnl" noProof="0" dirty="0" err="1"/>
              <a:t>docs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📋 README: instrucciones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Comunidades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👥 </a:t>
            </a:r>
            <a:r>
              <a:rPr lang="es-ES_tradnl" noProof="0" dirty="0" err="1"/>
              <a:t>Stack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Overflow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>👥 Reddit: r/</a:t>
            </a:r>
            <a:r>
              <a:rPr lang="es-ES_tradnl" noProof="0" dirty="0" err="1"/>
              <a:t>webscraping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👥 GitHub </a:t>
            </a:r>
            <a:r>
              <a:rPr lang="es-ES_tradnl" noProof="0" dirty="0" err="1"/>
              <a:t>Discussions</a:t>
            </a:r>
            <a:endParaRPr lang="es-ES_tradnl" noProof="0" dirty="0"/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endParaRPr lang="es-ES_tradnl" noProof="0" dirty="0"/>
          </a:p>
          <a:p>
            <a:pPr>
              <a:spcBef>
                <a:spcPts val="1200"/>
              </a:spcBef>
              <a:spcAft>
                <a:spcPts val="600"/>
              </a:spcAft>
              <a:defRPr sz="2000" b="1">
                <a:solidFill>
                  <a:srgbClr val="142850"/>
                </a:solidFill>
              </a:defRPr>
            </a:pPr>
            <a:r>
              <a:rPr lang="es-ES_tradnl" noProof="0" dirty="0"/>
              <a:t>Libros recomendados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📖 'Web </a:t>
            </a:r>
            <a:r>
              <a:rPr lang="es-ES_tradnl" noProof="0" dirty="0" err="1"/>
              <a:t>Scraping</a:t>
            </a:r>
            <a:r>
              <a:rPr lang="es-ES_tradnl" noProof="0" dirty="0"/>
              <a:t xml:space="preserve"> </a:t>
            </a:r>
            <a:r>
              <a:rPr lang="es-ES_tradnl" noProof="0" dirty="0" err="1"/>
              <a:t>with</a:t>
            </a:r>
            <a:r>
              <a:rPr lang="es-ES_tradnl" noProof="0" dirty="0"/>
              <a:t xml:space="preserve"> Python'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500">
                <a:solidFill>
                  <a:srgbClr val="282832"/>
                </a:solidFill>
              </a:defRPr>
            </a:pPr>
            <a:r>
              <a:rPr lang="es-ES_tradnl" noProof="0" dirty="0"/>
              <a:t xml:space="preserve">📖 'Python </a:t>
            </a:r>
            <a:r>
              <a:rPr lang="es-ES_tradnl" noProof="0" dirty="0" err="1"/>
              <a:t>for</a:t>
            </a:r>
            <a:r>
              <a:rPr lang="es-ES_tradnl" noProof="0" dirty="0"/>
              <a:t xml:space="preserve"> Data </a:t>
            </a:r>
            <a:r>
              <a:rPr lang="es-ES_tradnl" noProof="0" dirty="0" err="1"/>
              <a:t>Analysis</a:t>
            </a:r>
            <a:r>
              <a:rPr lang="es-ES_tradnl" noProof="0" dirty="0"/>
              <a:t>'</a:t>
            </a:r>
          </a:p>
        </p:txBody>
      </p:sp>
      <p:pic>
        <p:nvPicPr>
          <p:cNvPr id="8" name="Imagen 7" descr="Logotipo&#10;&#10;El contenido generado por IA puede ser incorrecto.">
            <a:extLst>
              <a:ext uri="{FF2B5EF4-FFF2-40B4-BE49-F238E27FC236}">
                <a16:creationId xmlns:a16="http://schemas.microsoft.com/office/drawing/2014/main" id="{89A68672-86A7-EF41-1A4A-CA97DFD45B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054535" y="0"/>
            <a:ext cx="137160" cy="6858000"/>
          </a:xfrm>
          <a:prstGeom prst="rect">
            <a:avLst/>
          </a:prstGeom>
          <a:solidFill>
            <a:srgbClr val="00F2E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1066800" y="2828835"/>
            <a:ext cx="100584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200" b="1">
                <a:solidFill>
                  <a:srgbClr val="FF0050"/>
                </a:solidFill>
              </a:defRPr>
            </a:pPr>
            <a:r>
              <a:rPr lang="es-ES_tradnl" noProof="0" dirty="0">
                <a:solidFill>
                  <a:srgbClr val="080808"/>
                </a:solidFill>
              </a:rPr>
              <a:t>¡Gracias por tu atención!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06416" y="5749111"/>
            <a:ext cx="201516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rPr lang="es-ES_tradnl" noProof="0" dirty="0">
                <a:solidFill>
                  <a:srgbClr val="080808"/>
                </a:solidFill>
              </a:rPr>
              <a:t>@barripdmx</a:t>
            </a:r>
          </a:p>
        </p:txBody>
      </p:sp>
      <p:pic>
        <p:nvPicPr>
          <p:cNvPr id="6" name="Imagen 5" descr="Logotipo&#10;&#10;El contenido generado por IA puede ser incorrecto.">
            <a:extLst>
              <a:ext uri="{FF2B5EF4-FFF2-40B4-BE49-F238E27FC236}">
                <a16:creationId xmlns:a16="http://schemas.microsoft.com/office/drawing/2014/main" id="{14C66536-F183-04F0-D63A-90A96536D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26" y="274506"/>
            <a:ext cx="1071444" cy="1107996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F2EA"/>
                </a:solidFill>
              </a:defRPr>
            </a:pPr>
            <a:r>
              <a:rPr lang="es-ES_tradnl" noProof="0" dirty="0"/>
              <a:t>TikTok como objeto algoritmico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150000"/>
            <a:ext cx="55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900" b="1">
                <a:solidFill>
                  <a:srgbClr val="142850"/>
                </a:solidFill>
              </a:defRPr>
            </a:pPr>
            <a:r>
              <a:rPr lang="es-ES_tradnl" noProof="0" dirty="0"/>
              <a:t>El For You Page (FYP)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⚠ El algoritmo decide que existe para cada usuario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⚠ Viral no significa frecuente: el sesgo de recomendacion es invisible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⚠ Tu corpus NO es una muestra representativa de la plataforma</a:t>
            </a:r>
          </a:p>
          <a:p>
            <a:pPr>
              <a:spcBef>
                <a:spcPts val="700"/>
              </a:spcBef>
              <a:spcAft>
                <a:spcPts val="400"/>
              </a:spcAft>
              <a:defRPr sz="1900" b="1">
                <a:solidFill>
                  <a:srgbClr val="142850"/>
                </a:solidFill>
              </a:defRPr>
            </a:pPr>
            <a:r>
              <a:rPr lang="es-ES_tradnl" noProof="0" dirty="0"/>
              <a:t>Que puedes observar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✅ Videos publicos de cuentas abiertas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✅ Comentarios publicos en esos videos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✅ Metricas de engagement: vistas, likes, shares, comentarios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✅ Hashtags, menciones y texto de descripcion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✅ Metadatos del perfil (seguidores, verificacion, fecha creacion)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000" y="1150000"/>
            <a:ext cx="56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900" b="1">
                <a:solidFill>
                  <a:srgbClr val="A93226"/>
                </a:solidFill>
              </a:defRPr>
            </a:pPr>
            <a:r>
              <a:rPr lang="es-ES_tradnl" noProof="0" dirty="0"/>
              <a:t>Que NO puedes observar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❌ Contenido de cuentas privadas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❌ Que FYP recibe cada usuario concreto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❌ Contenido eliminado o con shadowban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❌ Mensajes directos (DMs)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❌ Tasa de retencion y patron de reproduccion por usuario</a:t>
            </a:r>
          </a:p>
          <a:p>
            <a:pPr>
              <a:spcBef>
                <a:spcPts val="700"/>
              </a:spcBef>
              <a:spcAft>
                <a:spcPts val="400"/>
              </a:spcAft>
              <a:defRPr sz="1900" b="1">
                <a:solidFill>
                  <a:srgbClr val="142850"/>
                </a:solidFill>
              </a:defRPr>
            </a:pPr>
            <a:r>
              <a:rPr lang="es-ES_tradnl" noProof="0" dirty="0"/>
              <a:t>Consecuencias metodologicas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📋 Declara siempre como seleccionaste el corpus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📋 No generalices desde un scraping puntual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📋 El algoritmo cambia: tus datos tienen fecha de caducidad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F2EA"/>
                </a:solidFill>
              </a:defRPr>
            </a:pPr>
            <a:r>
              <a:rPr lang="es-ES_tradnl" noProof="0" dirty="0"/>
              <a:t>Construir el corpus: estrategias de busqueda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150000"/>
            <a:ext cx="55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  <a:defRPr sz="1800" b="1">
                <a:solidFill>
                  <a:srgbClr val="142850"/>
                </a:solidFill>
              </a:defRPr>
            </a:pPr>
            <a:r>
              <a:rPr lang="es-ES_tradnl" noProof="0" dirty="0"/>
              <a:t>Por cuenta (@usuario)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• Seguir actores concretos: partidos, medios, influencers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• Capturas longitudinales: misma cuenta en distintos momentos</a:t>
            </a:r>
          </a:p>
          <a:p>
            <a:pPr>
              <a:spcBef>
                <a:spcPts val="150"/>
              </a:spcBef>
              <a:spcAft>
                <a:spcPts val="400"/>
              </a:spcAft>
              <a:defRPr sz="1400">
                <a:solidFill>
                  <a:srgbClr val="A93226"/>
                </a:solidFill>
              </a:defRPr>
            </a:pPr>
            <a:r>
              <a:rPr lang="es-ES_tradnl" noProof="0" dirty="0"/>
              <a:t>⚠ Sesgo: corpus limitado a actores ya conocidos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800" b="1">
                <a:solidFill>
                  <a:srgbClr val="142850"/>
                </a:solidFill>
              </a:defRPr>
            </a:pPr>
            <a:r>
              <a:rPr lang="es-ES_tradnl" noProof="0" dirty="0"/>
              <a:t>Por hashtag (#tema)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• Detectar comunidades y debates en torno a una tematica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• Rastrear campanas y narrativas a traves del tiempo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A93226"/>
                </a:solidFill>
              </a:defRPr>
            </a:pPr>
            <a:r>
              <a:rPr lang="es-ES_tradnl" noProof="0" dirty="0"/>
              <a:t>⚠ Solo captura lo etiquetado: sin hashtag queda fuera del corpus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000" y="1150000"/>
            <a:ext cx="56000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  <a:defRPr sz="1800" b="1">
                <a:solidFill>
                  <a:srgbClr val="142850"/>
                </a:solidFill>
              </a:defRPr>
            </a:pPr>
            <a:r>
              <a:rPr lang="es-ES_tradnl" noProof="0" dirty="0"/>
              <a:t>Por palabra clave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• Captura contenido sin hashtag explicito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• Requiere lista controlada con sinonimos y variantes graficas</a:t>
            </a:r>
          </a:p>
          <a:p>
            <a:pPr>
              <a:spcBef>
                <a:spcPts val="150"/>
              </a:spcBef>
              <a:spcAft>
                <a:spcPts val="400"/>
              </a:spcAft>
              <a:defRPr sz="1400">
                <a:solidFill>
                  <a:srgbClr val="A93226"/>
                </a:solidFill>
              </a:defRPr>
            </a:pPr>
            <a:r>
              <a:rPr lang="es-ES_tradnl" noProof="0" dirty="0"/>
              <a:t>⚠ La lista de terminos introduce sesgos del investigador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800" b="1">
                <a:solidFill>
                  <a:srgbClr val="142850"/>
                </a:solidFill>
              </a:defRPr>
            </a:pPr>
            <a:r>
              <a:rPr lang="es-ES_tradnl" noProof="0" dirty="0"/>
              <a:t>Buenas practicas de diseno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📌 Combina estrategias: cuentas semilla + co-hashtags + bola de nieve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📌 Define la ventana temporal ANTES de empezar a scrapear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📌 Documenta cada decision: trata el corpus como diseno muestral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📌 Guarda log de scraping con fecha, parametros y errores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txBody>
          <a:bodyPr rtlCol="0" anchor="ctr"/>
          <a:lstStyle/>
          <a:p>
            <a:endParaRPr lang="es-ES_tradnl" noProof="0" dirty="0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txBody>
          <a:bodyPr rtlCol="0" anchor="ctr"/>
          <a:lstStyle/>
          <a:p>
            <a:endParaRPr lang="es-ES_tradnl" noProof="0" dirty="0"/>
          </a:p>
        </p:txBody>
      </p:sp>
      <p:sp>
        <p:nvSpPr>
          <p:cNvPr id="4" name="Title"/>
          <p:cNvSpPr txBox="1"/>
          <p:nvPr/>
        </p:nvSpPr>
        <p:spPr>
          <a:xfrm>
            <a:off x="548640" y="200000"/>
            <a:ext cx="110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F2EA"/>
                </a:solidFill>
              </a:defRPr>
            </a:pPr>
            <a:r>
              <a:rPr lang="es-ES_tradnl" noProof="0" dirty="0"/>
              <a:t>Mas alla del texto: analisis audiovisual en TikTok</a:t>
            </a:r>
          </a:p>
        </p:txBody>
      </p:sp>
      <p:sp>
        <p:nvSpPr>
          <p:cNvPr id="5" name="Line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txBody>
          <a:bodyPr rtlCol="0" anchor="ctr"/>
          <a:lstStyle/>
          <a:p>
            <a:endParaRPr lang="es-ES_tradnl" noProof="0" dirty="0"/>
          </a:p>
        </p:txBody>
      </p:sp>
      <p:sp>
        <p:nvSpPr>
          <p:cNvPr id="6" name="Q1"/>
          <p:cNvSpPr txBox="1"/>
          <p:nvPr/>
        </p:nvSpPr>
        <p:spPr>
          <a:xfrm>
            <a:off x="548640" y="1130000"/>
            <a:ext cx="55000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800" b="1">
                <a:solidFill>
                  <a:srgbClr val="142850"/>
                </a:solidFill>
              </a:defRPr>
            </a:pPr>
            <a:r>
              <a:rPr lang="es-ES_tradnl" noProof="0" dirty="0"/>
              <a:t>🎤 Analisis de audio y voz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350">
                <a:solidFill>
                  <a:srgbClr val="282832"/>
                </a:solidFill>
              </a:defRPr>
            </a:pPr>
            <a:r>
              <a:rPr lang="es-ES_tradnl" noProof="0" dirty="0"/>
              <a:t>Whisper (OpenAI) transcribe audio a texto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350">
                <a:solidFill>
                  <a:srgbClr val="282832"/>
                </a:solidFill>
              </a:defRPr>
            </a:pPr>
            <a:r>
              <a:rPr lang="es-ES_tradnl" noProof="0" dirty="0"/>
              <a:t>Identifica musica y audio original vs reutilizado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350">
                <a:solidFill>
                  <a:srgbClr val="A93226"/>
                </a:solidFill>
              </a:defRPr>
            </a:pPr>
            <a:r>
              <a:rPr lang="es-ES_tradnl" noProof="0" dirty="0"/>
              <a:t>⚠ Ironia y sarcasmo no se detectan sin contexto visual</a:t>
            </a:r>
          </a:p>
        </p:txBody>
      </p:sp>
      <p:sp>
        <p:nvSpPr>
          <p:cNvPr id="7" name="Q2"/>
          <p:cNvSpPr txBox="1"/>
          <p:nvPr/>
        </p:nvSpPr>
        <p:spPr>
          <a:xfrm>
            <a:off x="6300000" y="1130000"/>
            <a:ext cx="56000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800" b="1">
                <a:solidFill>
                  <a:srgbClr val="142850"/>
                </a:solidFill>
              </a:defRPr>
            </a:pPr>
            <a:r>
              <a:rPr lang="es-ES_tradnl" noProof="0" dirty="0"/>
              <a:t>📝 Texto en pantalla (overlays)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350">
                <a:solidFill>
                  <a:srgbClr val="282832"/>
                </a:solidFill>
              </a:defRPr>
            </a:pPr>
            <a:r>
              <a:rPr lang="es-ES_tradnl" noProof="0" dirty="0"/>
              <a:t>OCR extrae texto incrustado en el video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350">
                <a:solidFill>
                  <a:srgbClr val="282832"/>
                </a:solidFill>
              </a:defRPr>
            </a:pPr>
            <a:r>
              <a:rPr lang="es-ES_tradnl" noProof="0" dirty="0"/>
              <a:t>Frecuente en contenido de desinformacion y memes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350">
                <a:solidFill>
                  <a:srgbClr val="A93226"/>
                </a:solidFill>
              </a:defRPr>
            </a:pPr>
            <a:r>
              <a:rPr lang="es-ES_tradnl" noProof="0" dirty="0"/>
              <a:t>⚠ Requiere descarga del video: coste y almacenamiento alto</a:t>
            </a:r>
          </a:p>
        </p:txBody>
      </p:sp>
      <p:sp>
        <p:nvSpPr>
          <p:cNvPr id="8" name="Q3"/>
          <p:cNvSpPr txBox="1"/>
          <p:nvPr/>
        </p:nvSpPr>
        <p:spPr>
          <a:xfrm>
            <a:off x="548640" y="3800000"/>
            <a:ext cx="5500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800" b="1">
                <a:solidFill>
                  <a:srgbClr val="142850"/>
                </a:solidFill>
              </a:defRPr>
            </a:pPr>
            <a:r>
              <a:rPr lang="es-ES_tradnl" noProof="0" dirty="0"/>
              <a:t>📸 Analisis visual (vision por computador)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350">
                <a:solidFill>
                  <a:srgbClr val="282832"/>
                </a:solidFill>
              </a:defRPr>
            </a:pPr>
            <a:r>
              <a:rPr lang="es-ES_tradnl" noProof="0" dirty="0"/>
              <a:t>Deteccion de objetos, gestos, expresiones faciales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350">
                <a:solidFill>
                  <a:srgbClr val="282832"/>
                </a:solidFill>
              </a:defRPr>
            </a:pPr>
            <a:r>
              <a:rPr lang="es-ES_tradnl" noProof="0" dirty="0"/>
              <a:t>Clasificacion de escenas y simbolos visuales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350">
                <a:solidFill>
                  <a:srgbClr val="A93226"/>
                </a:solidFill>
              </a:defRPr>
            </a:pPr>
            <a:r>
              <a:rPr lang="es-ES_tradnl" noProof="0" dirty="0"/>
              <a:t>⚠ Alta complejidad tecnica y computacional</a:t>
            </a:r>
          </a:p>
        </p:txBody>
      </p:sp>
      <p:sp>
        <p:nvSpPr>
          <p:cNvPr id="9" name="Q4"/>
          <p:cNvSpPr txBox="1"/>
          <p:nvPr/>
        </p:nvSpPr>
        <p:spPr>
          <a:xfrm>
            <a:off x="6300000" y="3800000"/>
            <a:ext cx="5600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defRPr sz="1800" b="1">
                <a:solidFill>
                  <a:srgbClr val="A93226"/>
                </a:solidFill>
              </a:defRPr>
            </a:pPr>
            <a:r>
              <a:rPr lang="es-ES_tradnl" noProof="0" dirty="0"/>
              <a:t>La brecha metodologica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350">
                <a:solidFill>
                  <a:srgbClr val="282832"/>
                </a:solidFill>
              </a:defRPr>
            </a:pPr>
            <a:r>
              <a:rPr lang="es-ES_tradnl" noProof="0" dirty="0"/>
              <a:t>La mayoria de analisis automatizados solo usan texto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350">
                <a:solidFill>
                  <a:srgbClr val="282832"/>
                </a:solidFill>
              </a:defRPr>
            </a:pPr>
            <a:r>
              <a:rPr lang="es-ES_tradnl" noProof="0" dirty="0"/>
              <a:t>En TikTok el significado esta en el video: texto, audio e imagen son inseparables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350">
                <a:solidFill>
                  <a:srgbClr val="282832"/>
                </a:solidFill>
              </a:defRPr>
            </a:pPr>
            <a:r>
              <a:rPr lang="es-ES_tradnl" noProof="0" dirty="0"/>
              <a:t>Declara que parte del video has analizado realmente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350">
                <a:solidFill>
                  <a:srgbClr val="282832"/>
                </a:solidFill>
              </a:defRPr>
            </a:pPr>
            <a:r>
              <a:rPr lang="es-ES_tradnl" noProof="0" dirty="0"/>
              <a:t>Complementa lo automatizado con analisis manual cualitativo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txBody>
          <a:bodyPr rtlCol="0" anchor="ctr"/>
          <a:lstStyle/>
          <a:p>
            <a:endParaRPr lang="es-ES_tradnl" noProof="0" dirty="0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txBody>
          <a:bodyPr rtlCol="0" anchor="ctr"/>
          <a:lstStyle/>
          <a:p>
            <a:endParaRPr lang="es-ES_tradnl" noProof="0" dirty="0"/>
          </a:p>
        </p:txBody>
      </p:sp>
      <p:sp>
        <p:nvSpPr>
          <p:cNvPr id="4" name="Title"/>
          <p:cNvSpPr txBox="1"/>
          <p:nvPr/>
        </p:nvSpPr>
        <p:spPr>
          <a:xfrm>
            <a:off x="548640" y="200000"/>
            <a:ext cx="110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F2EA"/>
                </a:solidFill>
              </a:defRPr>
            </a:pPr>
            <a:r>
              <a:rPr lang="es-ES_tradnl" noProof="0" dirty="0"/>
              <a:t>Clasificar contenido sensible: riesgos y cautelas</a:t>
            </a:r>
          </a:p>
        </p:txBody>
      </p:sp>
      <p:sp>
        <p:nvSpPr>
          <p:cNvPr id="5" name="Line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txBody>
          <a:bodyPr rtlCol="0" anchor="ctr"/>
          <a:lstStyle/>
          <a:p>
            <a:endParaRPr lang="es-ES_tradnl" noProof="0" dirty="0"/>
          </a:p>
        </p:txBody>
      </p:sp>
      <p:sp>
        <p:nvSpPr>
          <p:cNvPr id="6" name="ColLeft"/>
          <p:cNvSpPr txBox="1"/>
          <p:nvPr/>
        </p:nvSpPr>
        <p:spPr>
          <a:xfrm>
            <a:off x="548640" y="1130000"/>
            <a:ext cx="5500000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300"/>
              </a:spcAft>
              <a:defRPr sz="1800" b="1">
                <a:solidFill>
                  <a:srgbClr val="142850"/>
                </a:solidFill>
              </a:defRPr>
            </a:pPr>
            <a:r>
              <a:rPr lang="es-ES_tradnl" noProof="0" dirty="0"/>
              <a:t>Discurso de odio y desinformacion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Herramientas automaticas tienen tasas de error altas (20-40%)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El sarcasmo, la ironia y el lenguaje en clave se clasifican mal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Valida siempre una muestra manualmente antes de publicar resultados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800" b="1">
                <a:solidFill>
                  <a:srgbClr val="142850"/>
                </a:solidFill>
              </a:defRPr>
            </a:pPr>
            <a:r>
              <a:rPr lang="es-ES_tradnl" noProof="0" dirty="0"/>
              <a:t>Sesgo de los modelos de clasificacion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Modelos entrenados principalmente en ingles y twitter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Peor precision en espanol, argot, dialectos y lenguaje juvenil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Informa la metrica de precision/recall junto a los resultados</a:t>
            </a:r>
          </a:p>
        </p:txBody>
      </p:sp>
      <p:sp>
        <p:nvSpPr>
          <p:cNvPr id="7" name="ColRight"/>
          <p:cNvSpPr txBox="1"/>
          <p:nvPr/>
        </p:nvSpPr>
        <p:spPr>
          <a:xfrm>
            <a:off x="6300000" y="1130000"/>
            <a:ext cx="5600000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300"/>
              </a:spcAft>
              <a:defRPr sz="1800" b="1">
                <a:solidFill>
                  <a:srgbClr val="142850"/>
                </a:solidFill>
              </a:defRPr>
            </a:pPr>
            <a:r>
              <a:rPr lang="es-ES_tradnl" noProof="0" dirty="0"/>
              <a:t>Teorias de la conspiracion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El contenido conspirativo evita palabras clave directas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Usa eufemismos, simbolos visuales y lenguaje codificado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La clasificacion automatica sola es insuficiente: necesitas analisis cualitativo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800" b="1">
                <a:solidFill>
                  <a:srgbClr val="142850"/>
                </a:solidFill>
              </a:defRPr>
            </a:pPr>
            <a:r>
              <a:rPr lang="es-ES_tradnl" noProof="0" dirty="0"/>
              <a:t>Colectivos vulnerabilizados como objeto de estudio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Riesgo de amplificar el dano al publicar resultados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Involucra a los colectivos en el diseno de la investigacion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Distingue entre estudiar el discurso de odio y reproducirlo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50"/>
          </a:solidFill>
          <a:ln/>
        </p:spPr>
        <p:txBody>
          <a:bodyPr rtlCol="0" anchor="ctr"/>
          <a:lstStyle/>
          <a:p>
            <a:endParaRPr lang="es-ES_tradnl" noProof="0" dirty="0"/>
          </a:p>
        </p:txBody>
      </p:sp>
      <p:sp>
        <p:nvSpPr>
          <p:cNvPr id="3" name="Header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2850"/>
          </a:solidFill>
          <a:ln w="25400">
            <a:solidFill>
              <a:srgbClr val="00F2EA"/>
            </a:solidFill>
          </a:ln>
        </p:spPr>
        <p:txBody>
          <a:bodyPr rtlCol="0" anchor="ctr"/>
          <a:lstStyle/>
          <a:p>
            <a:endParaRPr lang="es-ES_tradnl" noProof="0" dirty="0"/>
          </a:p>
        </p:txBody>
      </p:sp>
      <p:sp>
        <p:nvSpPr>
          <p:cNvPr id="4" name="Title"/>
          <p:cNvSpPr txBox="1"/>
          <p:nvPr/>
        </p:nvSpPr>
        <p:spPr>
          <a:xfrm>
            <a:off x="548640" y="200000"/>
            <a:ext cx="11000000" cy="8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F2EA"/>
                </a:solidFill>
              </a:defRPr>
            </a:pPr>
            <a:r>
              <a:rPr lang="es-ES_tradnl" noProof="0" dirty="0"/>
              <a:t>Etica en investigacion con datos sensibles</a:t>
            </a:r>
          </a:p>
        </p:txBody>
      </p:sp>
      <p:sp>
        <p:nvSpPr>
          <p:cNvPr id="5" name="Line"/>
          <p:cNvSpPr/>
          <p:nvPr/>
        </p:nvSpPr>
        <p:spPr>
          <a:xfrm>
            <a:off x="548640" y="1051560"/>
            <a:ext cx="11064240" cy="36576"/>
          </a:xfrm>
          <a:prstGeom prst="rect">
            <a:avLst/>
          </a:prstGeom>
          <a:solidFill>
            <a:srgbClr val="FF0050"/>
          </a:solidFill>
          <a:ln/>
        </p:spPr>
        <p:txBody>
          <a:bodyPr rtlCol="0" anchor="ctr"/>
          <a:lstStyle/>
          <a:p>
            <a:endParaRPr lang="es-ES_tradnl" noProof="0" dirty="0"/>
          </a:p>
        </p:txBody>
      </p:sp>
      <p:sp>
        <p:nvSpPr>
          <p:cNvPr id="6" name="ColLeft"/>
          <p:cNvSpPr txBox="1"/>
          <p:nvPr/>
        </p:nvSpPr>
        <p:spPr>
          <a:xfrm>
            <a:off x="548640" y="1130000"/>
            <a:ext cx="5500000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300"/>
              </a:spcAft>
              <a:defRPr sz="1800" b="1">
                <a:solidFill>
                  <a:srgbClr val="142850"/>
                </a:solidFill>
              </a:defRPr>
            </a:pPr>
            <a:r>
              <a:rPr lang="es-ES_tradnl" noProof="0" dirty="0"/>
              <a:t>Privacidad y datos publicos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Publico != consentido para investigacion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Privacidad contextual: cada comentario fue hecho para una audiencia especifica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Anonimiza o seudonimiza antes de publicar: no cites handles reales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800" b="1">
                <a:solidFill>
                  <a:srgbClr val="142850"/>
                </a:solidFill>
              </a:defRPr>
            </a:pPr>
            <a:r>
              <a:rPr lang="es-ES_tradnl" noProof="0" dirty="0"/>
              <a:t>Re-identificacion y dano potencial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Publicar fragmentos de comentarios puede facilitar doxing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Evalua el riesgo diferencial para grupos vulnerables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Somete el proyecto a comite de etica si hay posibilidad de dano</a:t>
            </a:r>
          </a:p>
        </p:txBody>
      </p:sp>
      <p:sp>
        <p:nvSpPr>
          <p:cNvPr id="7" name="ColRight"/>
          <p:cNvSpPr txBox="1"/>
          <p:nvPr/>
        </p:nvSpPr>
        <p:spPr>
          <a:xfrm>
            <a:off x="6300000" y="1130000"/>
            <a:ext cx="5600000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300"/>
              </a:spcAft>
              <a:defRPr sz="1800" b="1">
                <a:solidFill>
                  <a:srgbClr val="142850"/>
                </a:solidFill>
              </a:defRPr>
            </a:pPr>
            <a:r>
              <a:rPr lang="es-ES_tradnl" noProof="0" dirty="0"/>
              <a:t>Bienestar del equipo investigador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El trauma vicario es real: revisar contenido de odio tiene coste psicologico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Rota las tareas de anotacion: nadie debe clasificar miles de comentarios violentos solo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Establece limites de exposicion y pausas obligatorias</a:t>
            </a:r>
          </a:p>
          <a:p>
            <a:pPr>
              <a:spcBef>
                <a:spcPts val="600"/>
              </a:spcBef>
              <a:spcAft>
                <a:spcPts val="300"/>
              </a:spcAft>
              <a:defRPr sz="1800" b="1">
                <a:solidFill>
                  <a:srgbClr val="142850"/>
                </a:solidFill>
              </a:defRPr>
            </a:pPr>
            <a:r>
              <a:rPr lang="es-ES_tradnl" noProof="0" dirty="0"/>
              <a:t>Contenido ilegal y notificacion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Define protocolo previo: que haces si encuentras CSAM u otros contenidos ilegales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Considera si debes notificar a la plataforma o a autoridades</a:t>
            </a:r>
          </a:p>
          <a:p>
            <a:pPr>
              <a:spcBef>
                <a:spcPts val="150"/>
              </a:spcBef>
              <a:spcAft>
                <a:spcPts val="150"/>
              </a:spcAft>
              <a:defRPr sz="1400">
                <a:solidFill>
                  <a:srgbClr val="282832"/>
                </a:solidFill>
              </a:defRPr>
            </a:pPr>
            <a:r>
              <a:rPr lang="es-ES_tradnl" noProof="0" dirty="0"/>
              <a:t>No almacenes contenido ilegal aunque sea para investigar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 [1779188951947]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 [1779188971702]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?>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D5414AB-CB23-4262-B1CB-C0539A531F5C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557d9a9c-099a-4915-a767-70dbf117d32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363</TotalTime>
  <Words>2868</Words>
  <Application>Microsoft Office PowerPoint</Application>
  <PresentationFormat>Panorámica</PresentationFormat>
  <Paragraphs>625</Paragraphs>
  <Slides>37</Slides>
  <Notes>37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3</vt:i4>
      </vt:variant>
      <vt:variant>
        <vt:lpstr>Títulos de diapositiva</vt:lpstr>
      </vt:variant>
      <vt:variant>
        <vt:i4>37</vt:i4>
      </vt:variant>
    </vt:vector>
  </HeadingPairs>
  <TitlesOfParts>
    <vt:vector size="42" baseType="lpstr">
      <vt:lpstr>Arial</vt:lpstr>
      <vt:lpstr>Calibri</vt:lpstr>
      <vt:lpstr>Office Theme</vt:lpstr>
      <vt:lpstr>Office Theme [1779188951947]</vt:lpstr>
      <vt:lpstr>Office Theme [1779188971702]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Javier Barriuso</dc:creator>
  <cp:keywords/>
  <dc:description>generated using python-pptx</dc:description>
  <cp:lastModifiedBy>Javier Barriuso</cp:lastModifiedBy>
  <cp:revision>6</cp:revision>
  <dcterms:created xsi:type="dcterms:W3CDTF">2013-01-27T09:14:16Z</dcterms:created>
  <dcterms:modified xsi:type="dcterms:W3CDTF">2026-05-19T17:09:58Z</dcterms:modified>
  <cp:category/>
</cp:coreProperties>
</file>